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9144000" cy="5143500" type="screen16x9"/>
  <p:notesSz cx="6858000" cy="9144000"/>
  <p:embeddedFontLst>
    <p:embeddedFont>
      <p:font typeface="Roboto" panose="020B0604020202020204" charset="0"/>
      <p:regular r:id="rId30"/>
      <p:bold r:id="rId31"/>
      <p:italic r:id="rId32"/>
      <p:boldItalic r:id="rId33"/>
    </p:embeddedFont>
    <p:embeddedFont>
      <p:font typeface="Proxima Nova"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6237A7-AE8C-4A5A-A484-94130E5B2B2B}">
  <a:tblStyle styleId="{E56237A7-AE8C-4A5A-A484-94130E5B2B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835"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890143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e24e6c94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3ae24e6c946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Welcome to our team project for MSML 650: Cloud Computing. This slide introduces our team and sets the context for the rest of the presentation. Our project focuses on designing and simulating a real-time credit card fraud detection system using AWS serverless services. </a:t>
            </a:r>
            <a:endParaRPr/>
          </a:p>
          <a:p>
            <a:pPr marL="457200" lvl="0" indent="-228600" algn="l" rtl="0">
              <a:lnSpc>
                <a:spcPct val="100000"/>
              </a:lnSpc>
              <a:spcBef>
                <a:spcPts val="0"/>
              </a:spcBef>
              <a:spcAft>
                <a:spcPts val="0"/>
              </a:spcAft>
              <a:buSzPts val="1100"/>
              <a:buNone/>
            </a:pPr>
            <a:endParaRPr sz="1100"/>
          </a:p>
          <a:p>
            <a:pPr marL="457200" lvl="0" indent="-298450" algn="l" rtl="0">
              <a:lnSpc>
                <a:spcPct val="100000"/>
              </a:lnSpc>
              <a:spcBef>
                <a:spcPts val="0"/>
              </a:spcBef>
              <a:spcAft>
                <a:spcPts val="0"/>
              </a:spcAft>
              <a:buSzPts val="1100"/>
              <a:buChar char="●"/>
            </a:pPr>
            <a:r>
              <a:rPr lang="en" sz="1100"/>
              <a:t>We are a team of five students—each contributing to different layers of the system, including architecture design, data modeling, and cloud deployment. The submission date is December 10, 2025, and this project reflects the culmination of technical research, experimentation, and implementation over the semester.</a:t>
            </a:r>
            <a:endParaRPr/>
          </a:p>
          <a:p>
            <a:pPr marL="457200" lvl="0" indent="-228600" algn="l" rtl="0">
              <a:lnSpc>
                <a:spcPct val="100000"/>
              </a:lnSpc>
              <a:spcBef>
                <a:spcPts val="0"/>
              </a:spcBef>
              <a:spcAft>
                <a:spcPts val="0"/>
              </a:spcAft>
              <a:buSzPts val="1100"/>
              <a:buNone/>
            </a:pPr>
            <a:endParaRPr sz="1100"/>
          </a:p>
          <a:p>
            <a:pPr marL="457200" lvl="0" indent="-298450" algn="l" rtl="0">
              <a:lnSpc>
                <a:spcPct val="100000"/>
              </a:lnSpc>
              <a:spcBef>
                <a:spcPts val="0"/>
              </a:spcBef>
              <a:spcAft>
                <a:spcPts val="0"/>
              </a:spcAft>
              <a:buSzPts val="1100"/>
              <a:buChar char="●"/>
            </a:pPr>
            <a:r>
              <a:rPr lang="en" sz="1100"/>
              <a:t>We’d like to thank our instructor, Dr. [Name], for their guidance throughout the course. Let’s now dive into the motivation behind the project.</a:t>
            </a:r>
            <a:endParaRPr/>
          </a:p>
        </p:txBody>
      </p:sp>
    </p:spTree>
    <p:extLst>
      <p:ext uri="{BB962C8B-B14F-4D97-AF65-F5344CB8AC3E}">
        <p14:creationId xmlns:p14="http://schemas.microsoft.com/office/powerpoint/2010/main" val="935063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ae5057a60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ae5057a60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0606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e0f188311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3ae0f188311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Credit card fraud is not just a nuisance—it's a multi-billion-dollar challenge that financial institutions face globally. As of 2023, fraud losses have surged past $30 billion, largely due to the rise of digital and mobile commerce. The speed and volume of transactions have made it increasingly difficult to detect anomalies in time.</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Traditional fraud detection systems operate in batch modes, using outdated rule sets and delayed responses. This lag can be costly, both in terms of financial loss and customer trust. These systems were not designed to respond to threats in real time, making them insufficient in today’s digital-first world.</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Our goal was to develop a solution that addresses these gaps by leveraging cloud-native technologies to enable intelligent, scalable, and immediate responses to suspicious financial behavior. In the next slide, we’ll look at the system architecture that powers this solution.</a:t>
            </a:r>
            <a:endParaRPr/>
          </a:p>
        </p:txBody>
      </p:sp>
    </p:spTree>
    <p:extLst>
      <p:ext uri="{BB962C8B-B14F-4D97-AF65-F5344CB8AC3E}">
        <p14:creationId xmlns:p14="http://schemas.microsoft.com/office/powerpoint/2010/main" val="248763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ae24e6c94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3ae24e6c94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Let’s walk through the core system that powers our real-time fraud detection simulation.</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It begins with the synthetic generation of credit card transactions. These are produced every minute via AWS EventBridge and passed into a Lambda function that formats and pushes them to an SQS queue. This queue acts as a scalable buffer, ensuring smooth processing even under fluctuating load.</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The next phase involves real-time anomaly detection. A Lambda function consumes messages from SQS, applies a rolling Z-score model along with rule-based checks like abrupt geolocation shifts or unusually large purchases, and flags anything suspicious. If a high-risk transaction is detected, the system can take immediate actions—like holding the account—and issue notifications via SNS.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All transactions, their scores, and fraud states are stored in DynamoDB, enabling auditability and future review. A lightweight investigator portal, backed by API Gateway and another Lambda, allows manual querying of flagged transactions.</a:t>
            </a:r>
            <a:endParaRPr/>
          </a:p>
        </p:txBody>
      </p:sp>
    </p:spTree>
    <p:extLst>
      <p:ext uri="{BB962C8B-B14F-4D97-AF65-F5344CB8AC3E}">
        <p14:creationId xmlns:p14="http://schemas.microsoft.com/office/powerpoint/2010/main" val="580274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e5057a60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e5057a60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4757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e5057a60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ae5057a60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961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e0f188311_2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ae0f188311_2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Here we take a deeper look into the AWS architecture that drives our system.</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At the top of the pipeline, AWS EventBridge serves as a scheduling orchestrator, triggering the transaction generator Lambda function at regular one-minute intervals. These simulated transactions mirror real-world activity in fields such as amount, merchant, location, and device.</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Next, the data flows into Amazon SQS, providing a decoupled buffer that separates ingestion from analysis. This makes the system fault-tolerant and scalable. Lambda then processes the queued transactions by applying both statistical anomaly detection models and hand-tuned rules.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The results are stored in DynamoDB along with risk scores and fraud flags. High-risk transactions also trigger notifications through AWS SNS, which could be routed to email or operational dashboards. Finally, an API Gateway + Lambda combo offers fraud investigators a secure way to retrieve and review flagged events.</a:t>
            </a:r>
            <a:endParaRPr/>
          </a:p>
        </p:txBody>
      </p:sp>
    </p:spTree>
    <p:extLst>
      <p:ext uri="{BB962C8B-B14F-4D97-AF65-F5344CB8AC3E}">
        <p14:creationId xmlns:p14="http://schemas.microsoft.com/office/powerpoint/2010/main" val="1201265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e5057a602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ae5057a60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1064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e5057a60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e5057a60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638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ae5057a602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ae5057a602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0102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ae5057a602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ae5057a602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8775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ae5057a602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ae5057a60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9242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ae5057a602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ae5057a60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5395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ae5057a60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ae5057a602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8481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ae5057a602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ae5057a602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3101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e5057a60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ae5057a60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7532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ae5057a602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ae5057a602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193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ae5057a602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ae5057a602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1309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e5057a602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e5057a602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900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ae0f188311_2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g3ae0f188311_2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The data landscape for fraud detection presents several major challenges, particularly when privacy and anonymization are considered.</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Our initial synthetic datasets provided very poor accuracy—just around 60%—because the data lacked behavioral realism and the variation you'd see in actual fraudulent behavior. This made our models only marginally better than guessing.</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We then moved to more robust real-world datasets, such as those from Kaggle competitions. However, many of these had PCA transformations applied for privacy. This was a double-edged sword: we gained more realism but lost interpretability due to obscured feature relationships.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In addition, fraudulent data is typically extremely imbalanced, often comprising less than 1% of all records. We addressed this using preprocessing techniques like SMOTE and undersampling to balance the classes. Finally, we experimented with different models—from interpretable ones like logistic regression to more complex ones like SVM and gradient boosting—to find the best fit for our anomaly detection logic.</a:t>
            </a:r>
            <a:endParaRPr/>
          </a:p>
        </p:txBody>
      </p:sp>
    </p:spTree>
    <p:extLst>
      <p:ext uri="{BB962C8B-B14F-4D97-AF65-F5344CB8AC3E}">
        <p14:creationId xmlns:p14="http://schemas.microsoft.com/office/powerpoint/2010/main" val="2012932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ae0f188311_2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g3ae0f188311_2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Our AWS-based implementation turns model decisions into real-time actions by tightly integrating key services.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Once transactions are ingested through SQS, our fraud scoring Lambda function evaluates each using both statistical and heuristic techniques. The scoring model assigns a risk value using a rolling Z-score and checks conditions like large jumps in location or abnormally high purchase values.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If the risk exceeds a threshold, the transaction is flagged as potentially fraudulent. This information, along with the transaction details and flags, is logged into DynamoDB. It creates an ongoing, queryable fraud state for each account.</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At the same time, alerts are triggered via AWS SNS. These can be routed to developers, security teams, or even other automated Lambda functions for further action. The combination ensures that we not only detect but respond to threats rapidly and log everything for auditability.</a:t>
            </a:r>
            <a:endParaRPr/>
          </a:p>
        </p:txBody>
      </p:sp>
    </p:spTree>
    <p:extLst>
      <p:ext uri="{BB962C8B-B14F-4D97-AF65-F5344CB8AC3E}">
        <p14:creationId xmlns:p14="http://schemas.microsoft.com/office/powerpoint/2010/main" val="41273801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ae0f188311_2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g3ae0f188311_2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Developing this system wasn't without roadblocks—especially given the constraints of using free-tier cloud services and public datasets.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First, dataset quality was a recurring issue. Many sources were either overly synthetic or anonymized through dimensionality reduction techniques like PCA. This hurt model performance and made it difficult to explain predictions.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Second, the extreme class imbalance meant that typical models would be biased toward predicting ‘non-fraud’. To counter this, we applied balancing techniques like SMOTE and undersampling.</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From an AWS infrastructure perspective, setting permissions correctly was one of the biggest challenges. We encountered AccessDenied errors for SQS operations, which required carefully crafted inline IAM policies referencing queue ARNs. Additionally, debugging Lambda functions with incorrect environment variables (e.g., QUEUE_URL) stalled progress until configuration mismatches were resolved.</a:t>
            </a:r>
            <a:endParaRPr/>
          </a:p>
        </p:txBody>
      </p:sp>
    </p:spTree>
    <p:extLst>
      <p:ext uri="{BB962C8B-B14F-4D97-AF65-F5344CB8AC3E}">
        <p14:creationId xmlns:p14="http://schemas.microsoft.com/office/powerpoint/2010/main" val="1221678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ae0f188311_2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8" name="Google Shape;368;g3ae0f188311_2_1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To support human review and oversight, our system includes a lightweight but powerful investigator interface using AWS API Gateway.</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This API exposes specific endpoints that allow querying of flagged transactions by different filters such as time, user ID, geolocation, or risk score. The API itself acts as a middle layer, invoking a backend Lambda that reads from DynamoDB and returns the relevant entries.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Only suspicious or flagged records are made accessible through this API to minimize unnecessary data exposure. For production, this interface could be enhanced into a secure dashboard where investigators can explore, annotate, or dismiss flagged cases in real-time.</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This separation of detection logic and human oversight helps bridge machine decisions with human expertise.</a:t>
            </a:r>
            <a:endParaRPr/>
          </a:p>
        </p:txBody>
      </p:sp>
    </p:spTree>
    <p:extLst>
      <p:ext uri="{BB962C8B-B14F-4D97-AF65-F5344CB8AC3E}">
        <p14:creationId xmlns:p14="http://schemas.microsoft.com/office/powerpoint/2010/main" val="4268935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ae0f188311_2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g3ae0f188311_2_2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This project has demonstrated a functional prototype of a real-time fraud detection pipeline using AWS serverless technologies. Our system simulates and analyzes transactions in real time, leveraging anomaly scoring and rule-based checks to detect and respond to suspicious activity.</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The architecture is robust yet flexible. Because it's built entirely on modular AWS services, it can be extended with little effort—whether that's upgrading the model layer to use deep learning or wrapping the pipeline in a user-friendly UI for investigators.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Moving forward, our focus could shift to operational readiness: incorporating continuous retraining, monitoring, and secure access controls. These steps would help take this system from a successful proof-of-concept to a production-grade fraud detection engine.</a:t>
            </a:r>
            <a:endParaRPr/>
          </a:p>
        </p:txBody>
      </p:sp>
    </p:spTree>
    <p:extLst>
      <p:ext uri="{BB962C8B-B14F-4D97-AF65-F5344CB8AC3E}">
        <p14:creationId xmlns:p14="http://schemas.microsoft.com/office/powerpoint/2010/main" val="4025334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ae5057a602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ae5057a602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96149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ae0f188311_2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3" name="Google Shape;423;g3ae0f188311_2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This project has demonstrated a functional prototype of a real-time fraud detection pipeline using AWS serverless technologies. Our system simulates and analyzes transactions in real time, leveraging anomaly scoring and rule-based checks to detect and respond to suspicious activity.</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The architecture is robust yet flexible. Because it's built entirely on modular AWS services, it can be extended with little effort—whether that's upgrading the model layer to use deep learning or wrapping the pipeline in a user-friendly UI for investigators.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 sz="1100"/>
              <a:t>Moving forward, our focus could shift to operational readiness: incorporating continuous retraining, monitoring, and secure access controls. These steps would help take this system from a successful proof-of-concept to a production-grade fraud detection engine.</a:t>
            </a:r>
            <a:endParaRPr/>
          </a:p>
        </p:txBody>
      </p:sp>
    </p:spTree>
    <p:extLst>
      <p:ext uri="{BB962C8B-B14F-4D97-AF65-F5344CB8AC3E}">
        <p14:creationId xmlns:p14="http://schemas.microsoft.com/office/powerpoint/2010/main" val="552146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TITLE_AND_BODY_1">
    <p:spTree>
      <p:nvGrpSpPr>
        <p:cNvPr id="1" name="Shape 54"/>
        <p:cNvGrpSpPr/>
        <p:nvPr/>
      </p:nvGrpSpPr>
      <p:grpSpPr>
        <a:xfrm>
          <a:off x="0" y="0"/>
          <a:ext cx="0" cy="0"/>
          <a:chOff x="0" y="0"/>
          <a:chExt cx="0" cy="0"/>
        </a:xfrm>
      </p:grpSpPr>
      <p:sp>
        <p:nvSpPr>
          <p:cNvPr id="55" name="Google Shape;55;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4"/>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7" name="Google Shape;57;p14"/>
          <p:cNvSpPr txBox="1">
            <a:spLocks noGrp="1"/>
          </p:cNvSpPr>
          <p:nvPr>
            <p:ph type="body" idx="1"/>
          </p:nvPr>
        </p:nvSpPr>
        <p:spPr>
          <a:xfrm>
            <a:off x="311700" y="1194734"/>
            <a:ext cx="8520600" cy="3850965"/>
          </a:xfrm>
          <a:prstGeom prst="rect">
            <a:avLst/>
          </a:prstGeom>
          <a:noFill/>
          <a:ln>
            <a:noFill/>
          </a:ln>
        </p:spPr>
        <p:txBody>
          <a:bodyPr spcFirstLastPara="1" wrap="square" lIns="91425" tIns="91425" rIns="91425" bIns="91425" anchor="t" anchorCtr="0">
            <a:normAutofit/>
          </a:bodyPr>
          <a:lstStyle>
            <a:lvl1pPr marL="457200" lvl="0" indent="-330200" algn="l">
              <a:lnSpc>
                <a:spcPct val="115000"/>
              </a:lnSpc>
              <a:spcBef>
                <a:spcPts val="0"/>
              </a:spcBef>
              <a:spcAft>
                <a:spcPts val="0"/>
              </a:spcAft>
              <a:buSzPts val="1600"/>
              <a:buChar char="●"/>
              <a:defRPr sz="16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8" name="Google Shape;58;p14"/>
          <p:cNvSpPr txBox="1">
            <a:spLocks noGrp="1"/>
          </p:cNvSpPr>
          <p:nvPr>
            <p:ph type="sldNum" idx="12"/>
          </p:nvPr>
        </p:nvSpPr>
        <p:spPr>
          <a:xfrm>
            <a:off x="8832297" y="4863993"/>
            <a:ext cx="311411" cy="192824"/>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14"/>
          <p:cNvSpPr txBox="1">
            <a:spLocks noGrp="1"/>
          </p:cNvSpPr>
          <p:nvPr>
            <p:ph type="subTitle" idx="2"/>
          </p:nvPr>
        </p:nvSpPr>
        <p:spPr>
          <a:xfrm>
            <a:off x="311699" y="712926"/>
            <a:ext cx="8520599" cy="481810"/>
          </a:xfrm>
          <a:prstGeom prst="rect">
            <a:avLst/>
          </a:prstGeom>
          <a:noFill/>
          <a:ln>
            <a:noFill/>
          </a:ln>
        </p:spPr>
        <p:txBody>
          <a:bodyPr spcFirstLastPara="1" wrap="square" lIns="91425" tIns="0" rIns="91425" bIns="91425" anchor="t" anchorCtr="0">
            <a:normAutofit/>
          </a:bodyPr>
          <a:lstStyle>
            <a:lvl1pPr lvl="0" algn="l">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60"/>
        <p:cNvGrpSpPr/>
        <p:nvPr/>
      </p:nvGrpSpPr>
      <p:grpSpPr>
        <a:xfrm>
          <a:off x="0" y="0"/>
          <a:ext cx="0" cy="0"/>
          <a:chOff x="0" y="0"/>
          <a:chExt cx="0" cy="0"/>
        </a:xfrm>
      </p:grpSpPr>
      <p:cxnSp>
        <p:nvCxnSpPr>
          <p:cNvPr id="61" name="Google Shape;61;p15"/>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62" name="Google Shape;62;p15"/>
          <p:cNvSpPr txBox="1">
            <a:spLocks noGrp="1"/>
          </p:cNvSpPr>
          <p:nvPr>
            <p:ph type="ctrTitle"/>
          </p:nvPr>
        </p:nvSpPr>
        <p:spPr>
          <a:xfrm>
            <a:off x="510450" y="1257300"/>
            <a:ext cx="8123100" cy="15885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3" name="Google Shape;63;p15"/>
          <p:cNvSpPr txBox="1">
            <a:spLocks noGrp="1"/>
          </p:cNvSpPr>
          <p:nvPr>
            <p:ph type="subTitle" idx="1"/>
          </p:nvPr>
        </p:nvSpPr>
        <p:spPr>
          <a:xfrm>
            <a:off x="510450" y="3182313"/>
            <a:ext cx="8123100" cy="630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4"/>
        <p:cNvGrpSpPr/>
        <p:nvPr/>
      </p:nvGrpSpPr>
      <p:grpSpPr>
        <a:xfrm>
          <a:off x="0" y="0"/>
          <a:ext cx="0" cy="0"/>
          <a:chOff x="0" y="0"/>
          <a:chExt cx="0" cy="0"/>
        </a:xfrm>
      </p:grpSpPr>
      <p:cxnSp>
        <p:nvCxnSpPr>
          <p:cNvPr id="65" name="Google Shape;65;p16"/>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66" name="Google Shape;66;p16"/>
          <p:cNvSpPr txBox="1">
            <a:spLocks noGrp="1"/>
          </p:cNvSpPr>
          <p:nvPr>
            <p:ph type="title"/>
          </p:nvPr>
        </p:nvSpPr>
        <p:spPr>
          <a:xfrm>
            <a:off x="510450" y="2057400"/>
            <a:ext cx="8123100" cy="77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p1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17"/>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1" name="Google Shape;71;p17"/>
          <p:cNvSpPr txBox="1">
            <a:spLocks noGrp="1"/>
          </p:cNvSpPr>
          <p:nvPr>
            <p:ph type="body" idx="1"/>
          </p:nvPr>
        </p:nvSpPr>
        <p:spPr>
          <a:xfrm>
            <a:off x="311700" y="1304875"/>
            <a:ext cx="8520600" cy="3416400"/>
          </a:xfrm>
          <a:prstGeom prst="rect">
            <a:avLst/>
          </a:prstGeom>
          <a:noFill/>
          <a:ln>
            <a:noFill/>
          </a:ln>
        </p:spPr>
        <p:txBody>
          <a:bodyPr spcFirstLastPara="1" wrap="square" lIns="91425" tIns="91425" rIns="91425" bIns="91425" anchor="t" anchorCtr="0">
            <a:normAutofit/>
          </a:bodyPr>
          <a:lstStyle>
            <a:lvl1pPr marL="457200" lvl="0" indent="-330200" algn="l">
              <a:lnSpc>
                <a:spcPct val="115000"/>
              </a:lnSpc>
              <a:spcBef>
                <a:spcPts val="0"/>
              </a:spcBef>
              <a:spcAft>
                <a:spcPts val="0"/>
              </a:spcAft>
              <a:buSzPts val="1600"/>
              <a:buChar char="●"/>
              <a:defRPr sz="16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72" name="Google Shape;72;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73" name="Google Shape;73;p17"/>
          <p:cNvSpPr txBox="1">
            <a:spLocks noGrp="1"/>
          </p:cNvSpPr>
          <p:nvPr>
            <p:ph type="subTitle" idx="2"/>
          </p:nvPr>
        </p:nvSpPr>
        <p:spPr>
          <a:xfrm>
            <a:off x="387975" y="789025"/>
            <a:ext cx="8520600" cy="833100"/>
          </a:xfrm>
          <a:prstGeom prst="rect">
            <a:avLst/>
          </a:prstGeom>
          <a:noFill/>
          <a:ln>
            <a:noFill/>
          </a:ln>
        </p:spPr>
        <p:txBody>
          <a:bodyPr spcFirstLastPara="1" wrap="square" lIns="91425" tIns="91425" rIns="91425" bIns="91425" anchor="t" anchorCtr="0">
            <a:normAutofit/>
          </a:bodyPr>
          <a:lstStyle>
            <a:lvl1pPr lvl="0" algn="l">
              <a:lnSpc>
                <a:spcPct val="115000"/>
              </a:lnSpc>
              <a:spcBef>
                <a:spcPts val="0"/>
              </a:spcBef>
              <a:spcAft>
                <a:spcPts val="0"/>
              </a:spcAft>
              <a:buSzPts val="1500"/>
              <a:buNone/>
              <a:defRPr sz="15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6" name="Google Shape;76;p18"/>
          <p:cNvSpPr txBox="1">
            <a:spLocks noGrp="1"/>
          </p:cNvSpPr>
          <p:nvPr>
            <p:ph type="body" idx="1"/>
          </p:nvPr>
        </p:nvSpPr>
        <p:spPr>
          <a:xfrm>
            <a:off x="311700" y="13810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7" name="Google Shape;77;p18"/>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8" name="Google Shape;7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79" name="Google Shape;79;p18"/>
          <p:cNvSpPr txBox="1">
            <a:spLocks noGrp="1"/>
          </p:cNvSpPr>
          <p:nvPr>
            <p:ph type="subTitle" idx="3"/>
          </p:nvPr>
        </p:nvSpPr>
        <p:spPr>
          <a:xfrm>
            <a:off x="386975" y="864000"/>
            <a:ext cx="8368200" cy="84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80" name="Google Shape;80;p18"/>
          <p:cNvSpPr txBox="1">
            <a:spLocks noGrp="1"/>
          </p:cNvSpPr>
          <p:nvPr>
            <p:ph type="body" idx="4"/>
          </p:nvPr>
        </p:nvSpPr>
        <p:spPr>
          <a:xfrm>
            <a:off x="4813725" y="3822525"/>
            <a:ext cx="3999900" cy="208200"/>
          </a:xfrm>
          <a:prstGeom prst="rect">
            <a:avLst/>
          </a:prstGeom>
          <a:noFill/>
          <a:ln>
            <a:noFill/>
          </a:ln>
        </p:spPr>
        <p:txBody>
          <a:bodyPr spcFirstLastPara="1" wrap="square" lIns="91425" tIns="91425" rIns="91425" bIns="91425" anchor="t" anchorCtr="0">
            <a:normAutofit/>
          </a:bodyPr>
          <a:lstStyle>
            <a:lvl1pPr marL="457200" lvl="0" indent="-273050" algn="r">
              <a:lnSpc>
                <a:spcPct val="115000"/>
              </a:lnSpc>
              <a:spcBef>
                <a:spcPts val="0"/>
              </a:spcBef>
              <a:spcAft>
                <a:spcPts val="0"/>
              </a:spcAft>
              <a:buSzPts val="700"/>
              <a:buChar char="●"/>
              <a:defRPr sz="700"/>
            </a:lvl1pPr>
            <a:lvl2pPr marL="914400" lvl="1" indent="-260350" algn="r">
              <a:lnSpc>
                <a:spcPct val="115000"/>
              </a:lnSpc>
              <a:spcBef>
                <a:spcPts val="0"/>
              </a:spcBef>
              <a:spcAft>
                <a:spcPts val="0"/>
              </a:spcAft>
              <a:buSzPts val="500"/>
              <a:buChar char="○"/>
              <a:defRPr sz="500"/>
            </a:lvl2pPr>
            <a:lvl3pPr marL="1371600" lvl="2" indent="-260350" algn="r">
              <a:lnSpc>
                <a:spcPct val="115000"/>
              </a:lnSpc>
              <a:spcBef>
                <a:spcPts val="0"/>
              </a:spcBef>
              <a:spcAft>
                <a:spcPts val="0"/>
              </a:spcAft>
              <a:buSzPts val="500"/>
              <a:buChar char="■"/>
              <a:defRPr sz="500"/>
            </a:lvl3pPr>
            <a:lvl4pPr marL="1828800" lvl="3" indent="-260350" algn="r">
              <a:lnSpc>
                <a:spcPct val="115000"/>
              </a:lnSpc>
              <a:spcBef>
                <a:spcPts val="0"/>
              </a:spcBef>
              <a:spcAft>
                <a:spcPts val="0"/>
              </a:spcAft>
              <a:buSzPts val="500"/>
              <a:buChar char="●"/>
              <a:defRPr sz="500"/>
            </a:lvl4pPr>
            <a:lvl5pPr marL="2286000" lvl="4" indent="-260350" algn="r">
              <a:lnSpc>
                <a:spcPct val="115000"/>
              </a:lnSpc>
              <a:spcBef>
                <a:spcPts val="0"/>
              </a:spcBef>
              <a:spcAft>
                <a:spcPts val="0"/>
              </a:spcAft>
              <a:buSzPts val="500"/>
              <a:buChar char="○"/>
              <a:defRPr sz="500"/>
            </a:lvl5pPr>
            <a:lvl6pPr marL="2743200" lvl="5" indent="-260350" algn="r">
              <a:lnSpc>
                <a:spcPct val="115000"/>
              </a:lnSpc>
              <a:spcBef>
                <a:spcPts val="0"/>
              </a:spcBef>
              <a:spcAft>
                <a:spcPts val="0"/>
              </a:spcAft>
              <a:buSzPts val="500"/>
              <a:buChar char="■"/>
              <a:defRPr sz="500"/>
            </a:lvl6pPr>
            <a:lvl7pPr marL="3200400" lvl="6" indent="-260350" algn="r">
              <a:lnSpc>
                <a:spcPct val="115000"/>
              </a:lnSpc>
              <a:spcBef>
                <a:spcPts val="0"/>
              </a:spcBef>
              <a:spcAft>
                <a:spcPts val="0"/>
              </a:spcAft>
              <a:buSzPts val="500"/>
              <a:buChar char="●"/>
              <a:defRPr sz="500"/>
            </a:lvl7pPr>
            <a:lvl8pPr marL="3657600" lvl="7" indent="-260350" algn="r">
              <a:lnSpc>
                <a:spcPct val="115000"/>
              </a:lnSpc>
              <a:spcBef>
                <a:spcPts val="0"/>
              </a:spcBef>
              <a:spcAft>
                <a:spcPts val="0"/>
              </a:spcAft>
              <a:buSzPts val="500"/>
              <a:buChar char="○"/>
              <a:defRPr sz="500"/>
            </a:lvl8pPr>
            <a:lvl9pPr marL="4114800" lvl="8" indent="-260350" algn="r">
              <a:lnSpc>
                <a:spcPct val="115000"/>
              </a:lnSpc>
              <a:spcBef>
                <a:spcPts val="0"/>
              </a:spcBef>
              <a:spcAft>
                <a:spcPts val="0"/>
              </a:spcAft>
              <a:buSzPts val="500"/>
              <a:buChar char="■"/>
              <a:defRPr sz="5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3" name="Google Shape;8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6" name="Google Shape;86;p2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7" name="Google Shape;8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88"/>
        <p:cNvGrpSpPr/>
        <p:nvPr/>
      </p:nvGrpSpPr>
      <p:grpSpPr>
        <a:xfrm>
          <a:off x="0" y="0"/>
          <a:ext cx="0" cy="0"/>
          <a:chOff x="0" y="0"/>
          <a:chExt cx="0" cy="0"/>
        </a:xfrm>
      </p:grpSpPr>
      <p:sp>
        <p:nvSpPr>
          <p:cNvPr id="89" name="Google Shape;89;p21"/>
          <p:cNvSpPr txBox="1">
            <a:spLocks noGrp="1"/>
          </p:cNvSpPr>
          <p:nvPr>
            <p:ph type="title"/>
          </p:nvPr>
        </p:nvSpPr>
        <p:spPr>
          <a:xfrm>
            <a:off x="490250" y="526350"/>
            <a:ext cx="57975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0" name="Google Shape;9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cxnSp>
        <p:nvCxnSpPr>
          <p:cNvPr id="92" name="Google Shape;92;p22"/>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93" name="Google Shape;93;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22"/>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5" name="Google Shape;95;p22"/>
          <p:cNvSpPr txBox="1">
            <a:spLocks noGrp="1"/>
          </p:cNvSpPr>
          <p:nvPr>
            <p:ph type="body" idx="1"/>
          </p:nvPr>
        </p:nvSpPr>
        <p:spPr>
          <a:xfrm>
            <a:off x="311700" y="13048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6" name="Google Shape;96;p22"/>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7" name="Google Shape;97;p22"/>
          <p:cNvSpPr txBox="1">
            <a:spLocks noGrp="1"/>
          </p:cNvSpPr>
          <p:nvPr>
            <p:ph type="subTitle" idx="3"/>
          </p:nvPr>
        </p:nvSpPr>
        <p:spPr>
          <a:xfrm>
            <a:off x="386975" y="787800"/>
            <a:ext cx="8368200" cy="84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500"/>
              <a:buNone/>
              <a:defRPr sz="1500"/>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98" name="Google Shape;98;p22"/>
          <p:cNvSpPr txBox="1">
            <a:spLocks noGrp="1"/>
          </p:cNvSpPr>
          <p:nvPr>
            <p:ph type="body" idx="4"/>
          </p:nvPr>
        </p:nvSpPr>
        <p:spPr>
          <a:xfrm>
            <a:off x="4813725" y="3822525"/>
            <a:ext cx="3999900" cy="208200"/>
          </a:xfrm>
          <a:prstGeom prst="rect">
            <a:avLst/>
          </a:prstGeom>
          <a:noFill/>
          <a:ln>
            <a:noFill/>
          </a:ln>
        </p:spPr>
        <p:txBody>
          <a:bodyPr spcFirstLastPara="1" wrap="square" lIns="91425" tIns="91425" rIns="91425" bIns="91425" anchor="t" anchorCtr="0">
            <a:normAutofit/>
          </a:bodyPr>
          <a:lstStyle>
            <a:lvl1pPr marL="457200" lvl="0" indent="-273050" algn="r">
              <a:lnSpc>
                <a:spcPct val="115000"/>
              </a:lnSpc>
              <a:spcBef>
                <a:spcPts val="0"/>
              </a:spcBef>
              <a:spcAft>
                <a:spcPts val="0"/>
              </a:spcAft>
              <a:buSzPts val="700"/>
              <a:buChar char="●"/>
              <a:defRPr sz="700"/>
            </a:lvl1pPr>
            <a:lvl2pPr marL="914400" lvl="1" indent="-260350" algn="r">
              <a:lnSpc>
                <a:spcPct val="115000"/>
              </a:lnSpc>
              <a:spcBef>
                <a:spcPts val="0"/>
              </a:spcBef>
              <a:spcAft>
                <a:spcPts val="0"/>
              </a:spcAft>
              <a:buSzPts val="500"/>
              <a:buChar char="○"/>
              <a:defRPr sz="500"/>
            </a:lvl2pPr>
            <a:lvl3pPr marL="1371600" lvl="2" indent="-260350" algn="r">
              <a:lnSpc>
                <a:spcPct val="115000"/>
              </a:lnSpc>
              <a:spcBef>
                <a:spcPts val="0"/>
              </a:spcBef>
              <a:spcAft>
                <a:spcPts val="0"/>
              </a:spcAft>
              <a:buSzPts val="500"/>
              <a:buChar char="■"/>
              <a:defRPr sz="500"/>
            </a:lvl3pPr>
            <a:lvl4pPr marL="1828800" lvl="3" indent="-260350" algn="r">
              <a:lnSpc>
                <a:spcPct val="115000"/>
              </a:lnSpc>
              <a:spcBef>
                <a:spcPts val="0"/>
              </a:spcBef>
              <a:spcAft>
                <a:spcPts val="0"/>
              </a:spcAft>
              <a:buSzPts val="500"/>
              <a:buChar char="●"/>
              <a:defRPr sz="500"/>
            </a:lvl4pPr>
            <a:lvl5pPr marL="2286000" lvl="4" indent="-260350" algn="r">
              <a:lnSpc>
                <a:spcPct val="115000"/>
              </a:lnSpc>
              <a:spcBef>
                <a:spcPts val="0"/>
              </a:spcBef>
              <a:spcAft>
                <a:spcPts val="0"/>
              </a:spcAft>
              <a:buSzPts val="500"/>
              <a:buChar char="○"/>
              <a:defRPr sz="500"/>
            </a:lvl5pPr>
            <a:lvl6pPr marL="2743200" lvl="5" indent="-260350" algn="r">
              <a:lnSpc>
                <a:spcPct val="115000"/>
              </a:lnSpc>
              <a:spcBef>
                <a:spcPts val="0"/>
              </a:spcBef>
              <a:spcAft>
                <a:spcPts val="0"/>
              </a:spcAft>
              <a:buSzPts val="500"/>
              <a:buChar char="■"/>
              <a:defRPr sz="500"/>
            </a:lvl6pPr>
            <a:lvl7pPr marL="3200400" lvl="6" indent="-260350" algn="r">
              <a:lnSpc>
                <a:spcPct val="115000"/>
              </a:lnSpc>
              <a:spcBef>
                <a:spcPts val="0"/>
              </a:spcBef>
              <a:spcAft>
                <a:spcPts val="0"/>
              </a:spcAft>
              <a:buSzPts val="500"/>
              <a:buChar char="●"/>
              <a:defRPr sz="500"/>
            </a:lvl7pPr>
            <a:lvl8pPr marL="3657600" lvl="7" indent="-260350" algn="r">
              <a:lnSpc>
                <a:spcPct val="115000"/>
              </a:lnSpc>
              <a:spcBef>
                <a:spcPts val="0"/>
              </a:spcBef>
              <a:spcAft>
                <a:spcPts val="0"/>
              </a:spcAft>
              <a:buSzPts val="500"/>
              <a:buChar char="○"/>
              <a:defRPr sz="500"/>
            </a:lvl8pPr>
            <a:lvl9pPr marL="4114800" lvl="8" indent="-260350" algn="r">
              <a:lnSpc>
                <a:spcPct val="115000"/>
              </a:lnSpc>
              <a:spcBef>
                <a:spcPts val="0"/>
              </a:spcBef>
              <a:spcAft>
                <a:spcPts val="0"/>
              </a:spcAft>
              <a:buSzPts val="500"/>
              <a:buChar char="■"/>
              <a:defRPr sz="500"/>
            </a:lvl9pPr>
          </a:lstStyle>
          <a:p>
            <a:endParaRPr/>
          </a:p>
        </p:txBody>
      </p:sp>
      <p:sp>
        <p:nvSpPr>
          <p:cNvPr id="99" name="Google Shape;99;p22"/>
          <p:cNvSpPr txBox="1">
            <a:spLocks noGrp="1"/>
          </p:cNvSpPr>
          <p:nvPr>
            <p:ph type="sldNum" idx="5"/>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0"/>
        <p:cNvGrpSpPr/>
        <p:nvPr/>
      </p:nvGrpSpPr>
      <p:grpSpPr>
        <a:xfrm>
          <a:off x="0" y="0"/>
          <a:ext cx="0" cy="0"/>
          <a:chOff x="0" y="0"/>
          <a:chExt cx="0" cy="0"/>
        </a:xfrm>
      </p:grpSpPr>
      <p:sp>
        <p:nvSpPr>
          <p:cNvPr id="101" name="Google Shape;101;p23"/>
          <p:cNvSpPr txBox="1">
            <a:spLocks noGrp="1"/>
          </p:cNvSpPr>
          <p:nvPr>
            <p:ph type="body" idx="1"/>
          </p:nvPr>
        </p:nvSpPr>
        <p:spPr>
          <a:xfrm>
            <a:off x="311700" y="42368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100"/>
              <a:buNone/>
              <a:defRPr sz="2100"/>
            </a:lvl1pPr>
          </a:lstStyle>
          <a:p>
            <a:endParaRPr/>
          </a:p>
        </p:txBody>
      </p:sp>
      <p:sp>
        <p:nvSpPr>
          <p:cNvPr id="102" name="Google Shape;10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3"/>
        <p:cNvGrpSpPr/>
        <p:nvPr/>
      </p:nvGrpSpPr>
      <p:grpSpPr>
        <a:xfrm>
          <a:off x="0" y="0"/>
          <a:ext cx="0" cy="0"/>
          <a:chOff x="0" y="0"/>
          <a:chExt cx="0" cy="0"/>
        </a:xfrm>
      </p:grpSpPr>
      <p:sp>
        <p:nvSpPr>
          <p:cNvPr id="104" name="Google Shape;104;p2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4"/>
          <p:cNvSpPr txBox="1">
            <a:spLocks noGrp="1"/>
          </p:cNvSpPr>
          <p:nvPr>
            <p:ph type="title" hasCustomPrompt="1"/>
          </p:nvPr>
        </p:nvSpPr>
        <p:spPr>
          <a:xfrm>
            <a:off x="311700" y="991475"/>
            <a:ext cx="8520600" cy="19179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14000"/>
              <a:buNone/>
              <a:defRPr sz="14000" b="1"/>
            </a:lvl1pPr>
            <a:lvl2pPr lvl="1" algn="ctr">
              <a:lnSpc>
                <a:spcPct val="100000"/>
              </a:lnSpc>
              <a:spcBef>
                <a:spcPts val="0"/>
              </a:spcBef>
              <a:spcAft>
                <a:spcPts val="0"/>
              </a:spcAft>
              <a:buSzPts val="14000"/>
              <a:buNone/>
              <a:defRPr sz="14000" b="1"/>
            </a:lvl2pPr>
            <a:lvl3pPr lvl="2" algn="ctr">
              <a:lnSpc>
                <a:spcPct val="100000"/>
              </a:lnSpc>
              <a:spcBef>
                <a:spcPts val="0"/>
              </a:spcBef>
              <a:spcAft>
                <a:spcPts val="0"/>
              </a:spcAft>
              <a:buSzPts val="14000"/>
              <a:buNone/>
              <a:defRPr sz="14000" b="1"/>
            </a:lvl3pPr>
            <a:lvl4pPr lvl="3" algn="ctr">
              <a:lnSpc>
                <a:spcPct val="100000"/>
              </a:lnSpc>
              <a:spcBef>
                <a:spcPts val="0"/>
              </a:spcBef>
              <a:spcAft>
                <a:spcPts val="0"/>
              </a:spcAft>
              <a:buSzPts val="14000"/>
              <a:buNone/>
              <a:defRPr sz="14000" b="1"/>
            </a:lvl4pPr>
            <a:lvl5pPr lvl="4" algn="ctr">
              <a:lnSpc>
                <a:spcPct val="100000"/>
              </a:lnSpc>
              <a:spcBef>
                <a:spcPts val="0"/>
              </a:spcBef>
              <a:spcAft>
                <a:spcPts val="0"/>
              </a:spcAft>
              <a:buSzPts val="14000"/>
              <a:buNone/>
              <a:defRPr sz="14000" b="1"/>
            </a:lvl5pPr>
            <a:lvl6pPr lvl="5" algn="ctr">
              <a:lnSpc>
                <a:spcPct val="100000"/>
              </a:lnSpc>
              <a:spcBef>
                <a:spcPts val="0"/>
              </a:spcBef>
              <a:spcAft>
                <a:spcPts val="0"/>
              </a:spcAft>
              <a:buSzPts val="14000"/>
              <a:buNone/>
              <a:defRPr sz="14000" b="1"/>
            </a:lvl6pPr>
            <a:lvl7pPr lvl="6" algn="ctr">
              <a:lnSpc>
                <a:spcPct val="100000"/>
              </a:lnSpc>
              <a:spcBef>
                <a:spcPts val="0"/>
              </a:spcBef>
              <a:spcAft>
                <a:spcPts val="0"/>
              </a:spcAft>
              <a:buSzPts val="14000"/>
              <a:buNone/>
              <a:defRPr sz="14000" b="1"/>
            </a:lvl7pPr>
            <a:lvl8pPr lvl="7" algn="ctr">
              <a:lnSpc>
                <a:spcPct val="100000"/>
              </a:lnSpc>
              <a:spcBef>
                <a:spcPts val="0"/>
              </a:spcBef>
              <a:spcAft>
                <a:spcPts val="0"/>
              </a:spcAft>
              <a:buSzPts val="14000"/>
              <a:buNone/>
              <a:defRPr sz="14000" b="1"/>
            </a:lvl8pPr>
            <a:lvl9pPr lvl="8" algn="ctr">
              <a:lnSpc>
                <a:spcPct val="100000"/>
              </a:lnSpc>
              <a:spcBef>
                <a:spcPts val="0"/>
              </a:spcBef>
              <a:spcAft>
                <a:spcPts val="0"/>
              </a:spcAft>
              <a:buSzPts val="14000"/>
              <a:buNone/>
              <a:defRPr sz="14000" b="1"/>
            </a:lvl9pPr>
          </a:lstStyle>
          <a:p>
            <a:r>
              <a:t>xx%</a:t>
            </a:r>
          </a:p>
        </p:txBody>
      </p:sp>
      <p:sp>
        <p:nvSpPr>
          <p:cNvPr id="106" name="Google Shape;106;p24"/>
          <p:cNvSpPr txBox="1">
            <a:spLocks noGrp="1"/>
          </p:cNvSpPr>
          <p:nvPr>
            <p:ph type="body" idx="1"/>
          </p:nvPr>
        </p:nvSpPr>
        <p:spPr>
          <a:xfrm>
            <a:off x="311700" y="3071300"/>
            <a:ext cx="8520600" cy="901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07" name="Google Shape;107;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8"/>
        <p:cNvGrpSpPr/>
        <p:nvPr/>
      </p:nvGrpSpPr>
      <p:grpSpPr>
        <a:xfrm>
          <a:off x="0" y="0"/>
          <a:ext cx="0" cy="0"/>
          <a:chOff x="0" y="0"/>
          <a:chExt cx="0" cy="0"/>
        </a:xfrm>
      </p:grpSpPr>
      <p:sp>
        <p:nvSpPr>
          <p:cNvPr id="109" name="Google Shape;10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1pPr>
            <a:lvl2pPr marR="0" lvl="1"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2pPr>
            <a:lvl3pPr marR="0" lvl="2"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3pPr>
            <a:lvl4pPr marR="0" lvl="3"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4pPr>
            <a:lvl5pPr marR="0" lvl="4"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5pPr>
            <a:lvl6pPr marR="0" lvl="5"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6pPr>
            <a:lvl7pPr marR="0" lvl="6"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7pPr>
            <a:lvl8pPr marR="0" lvl="7"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8pPr>
            <a:lvl9pPr marR="0" lvl="8" algn="l" rtl="0">
              <a:lnSpc>
                <a:spcPct val="100000"/>
              </a:lnSpc>
              <a:spcBef>
                <a:spcPts val="0"/>
              </a:spcBef>
              <a:spcAft>
                <a:spcPts val="0"/>
              </a:spcAft>
              <a:buClr>
                <a:schemeClr val="dk1"/>
              </a:buClr>
              <a:buSzPts val="2800"/>
              <a:buFont typeface="Proxima Nova"/>
              <a:buNone/>
              <a:defRPr sz="2800" b="0" i="0" u="none" strike="noStrike" cap="none">
                <a:solidFill>
                  <a:schemeClr val="dk1"/>
                </a:solidFill>
                <a:latin typeface="Proxima Nova"/>
                <a:ea typeface="Proxima Nova"/>
                <a:cs typeface="Proxima Nova"/>
                <a:sym typeface="Proxima Nova"/>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accent3"/>
              </a:buClr>
              <a:buSzPts val="1800"/>
              <a:buFont typeface="Proxima Nova"/>
              <a:buChar char="●"/>
              <a:defRPr sz="1800" b="0" i="0" u="none" strike="noStrike" cap="none">
                <a:solidFill>
                  <a:schemeClr val="accent3"/>
                </a:solidFill>
                <a:latin typeface="Proxima Nova"/>
                <a:ea typeface="Proxima Nova"/>
                <a:cs typeface="Proxima Nova"/>
                <a:sym typeface="Proxima Nova"/>
              </a:defRPr>
            </a:lvl1pPr>
            <a:lvl2pPr marL="914400" marR="0" lvl="1"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2pPr>
            <a:lvl3pPr marL="1371600" marR="0" lvl="2"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3pPr>
            <a:lvl4pPr marL="1828800" marR="0" lvl="3"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4pPr>
            <a:lvl5pPr marL="2286000" marR="0" lvl="4"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5pPr>
            <a:lvl6pPr marL="2743200" marR="0" lvl="5"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6pPr>
            <a:lvl7pPr marL="3200400" marR="0" lvl="6"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7pPr>
            <a:lvl8pPr marL="3657600" marR="0" lvl="7"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8pPr>
            <a:lvl9pPr marL="4114800" marR="0" lvl="8" indent="-317500" algn="l" rtl="0">
              <a:lnSpc>
                <a:spcPct val="115000"/>
              </a:lnSpc>
              <a:spcBef>
                <a:spcPts val="0"/>
              </a:spcBef>
              <a:spcAft>
                <a:spcPts val="0"/>
              </a:spcAft>
              <a:buClr>
                <a:schemeClr val="accent3"/>
              </a:buClr>
              <a:buSzPts val="1400"/>
              <a:buFont typeface="Proxima Nova"/>
              <a:buChar char="■"/>
              <a:defRPr sz="1400" b="0" i="0" u="none" strike="noStrike" cap="none">
                <a:solidFill>
                  <a:schemeClr val="accent3"/>
                </a:solidFill>
                <a:latin typeface="Proxima Nova"/>
                <a:ea typeface="Proxima Nova"/>
                <a:cs typeface="Proxima Nova"/>
                <a:sym typeface="Proxima Nova"/>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hyperlink" Target="http://fraud-investigator-ui.s3-website-us-east-1.amazonaws.com/"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2HmGtqEkbnDKXm-f7oWOlrE56QID1MEE/view?usp=sharing"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hyperlink" Target="https://docs.aws.amazon.com/AmazonCloudWatch/latest/monitoring/WhatIsCloudWatch.html/" TargetMode="External"/><Relationship Id="rId13" Type="http://schemas.openxmlformats.org/officeDocument/2006/relationships/hyperlink" Target="https://docs.aws.amazon.com/amazondynamodb/latest/developerguide/Introduction.html" TargetMode="External"/><Relationship Id="rId3" Type="http://schemas.openxmlformats.org/officeDocument/2006/relationships/hyperlink" Target="https://www.kaggle.com/competitions/ieee-fraud-detection" TargetMode="External"/><Relationship Id="rId7" Type="http://schemas.openxmlformats.org/officeDocument/2006/relationships/hyperlink" Target="https://bernardmarr.com/the-5-biggest-cloud-computing-trends-in-2021/" TargetMode="External"/><Relationship Id="rId12" Type="http://schemas.openxmlformats.org/officeDocument/2006/relationships/hyperlink" Target="https://docs.aws.amazon.com/AmazonS3/latest/userguide/Welcome.html"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hyperlink" Target="https://www.abclegal.com/blog/credit-card-fraud-prevention" TargetMode="External"/><Relationship Id="rId11" Type="http://schemas.openxmlformats.org/officeDocument/2006/relationships/hyperlink" Target="https://docs.aws.amazon.com/lambda/latest/dg/welcome.html" TargetMode="External"/><Relationship Id="rId5" Type="http://schemas.openxmlformats.org/officeDocument/2006/relationships/hyperlink" Target="https://www.datacamp.com/datalab/datasets/dataset-python-credit-card-fraud" TargetMode="External"/><Relationship Id="rId15" Type="http://schemas.openxmlformats.org/officeDocument/2006/relationships/hyperlink" Target="https://docs.aws.amazon.com/apigateway/latest/developerguide/welcome.html" TargetMode="External"/><Relationship Id="rId10" Type="http://schemas.openxmlformats.org/officeDocument/2006/relationships/hyperlink" Target="https://docs.aws.amazon.com/AWSSimpleQueueService/latest/SQSDeveloperGuide/sqs-getting-started.html" TargetMode="External"/><Relationship Id="rId4" Type="http://schemas.openxmlformats.org/officeDocument/2006/relationships/hyperlink" Target="https://www.kaggle.com/datasets/nelgiriyewithana/credit-card-fraud-detection-dataset-2023" TargetMode="External"/><Relationship Id="rId9" Type="http://schemas.openxmlformats.org/officeDocument/2006/relationships/hyperlink" Target="https://docs.aws.amazon.com/sns/latest/dg/welcome.html" TargetMode="External"/><Relationship Id="rId14" Type="http://schemas.openxmlformats.org/officeDocument/2006/relationships/hyperlink" Target="https://docs.aws.amazon.com/eventbridge/latest/userguide/eb-what-i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6"/>
          <p:cNvSpPr txBox="1">
            <a:spLocks noGrp="1"/>
          </p:cNvSpPr>
          <p:nvPr>
            <p:ph type="title"/>
          </p:nvPr>
        </p:nvSpPr>
        <p:spPr>
          <a:xfrm>
            <a:off x="311700" y="0"/>
            <a:ext cx="8520600" cy="7128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200"/>
              <a:t>Real-Time Credit Card Fraud Detection</a:t>
            </a:r>
            <a:endParaRPr/>
          </a:p>
        </p:txBody>
      </p:sp>
      <p:sp>
        <p:nvSpPr>
          <p:cNvPr id="115" name="Google Shape;115;p26"/>
          <p:cNvSpPr txBox="1">
            <a:spLocks noGrp="1"/>
          </p:cNvSpPr>
          <p:nvPr>
            <p:ph type="subTitle" idx="2"/>
          </p:nvPr>
        </p:nvSpPr>
        <p:spPr>
          <a:xfrm>
            <a:off x="311699" y="712926"/>
            <a:ext cx="8520600" cy="481800"/>
          </a:xfrm>
          <a:prstGeom prst="rect">
            <a:avLst/>
          </a:prstGeom>
          <a:noFill/>
          <a:ln>
            <a:noFill/>
          </a:ln>
        </p:spPr>
        <p:txBody>
          <a:bodyPr spcFirstLastPara="1" wrap="square" lIns="91425" tIns="0" rIns="91425" bIns="91425" anchor="t" anchorCtr="0">
            <a:normAutofit/>
          </a:bodyPr>
          <a:lstStyle/>
          <a:p>
            <a:pPr marL="0" lvl="0" indent="0" algn="l" rtl="0">
              <a:lnSpc>
                <a:spcPct val="100000"/>
              </a:lnSpc>
              <a:spcBef>
                <a:spcPts val="0"/>
              </a:spcBef>
              <a:spcAft>
                <a:spcPts val="0"/>
              </a:spcAft>
              <a:buSzPts val="1800"/>
              <a:buNone/>
            </a:pPr>
            <a:r>
              <a:rPr lang="en" sz="1600"/>
              <a:t>MSML 650 Term Project | Fall 2025</a:t>
            </a:r>
            <a:endParaRPr/>
          </a:p>
        </p:txBody>
      </p:sp>
      <p:sp>
        <p:nvSpPr>
          <p:cNvPr id="116" name="Google Shape;116;p26"/>
          <p:cNvSpPr/>
          <p:nvPr/>
        </p:nvSpPr>
        <p:spPr>
          <a:xfrm>
            <a:off x="4648200" y="3901231"/>
            <a:ext cx="4114800" cy="2097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7" name="Google Shape;117;p26"/>
          <p:cNvSpPr txBox="1"/>
          <p:nvPr/>
        </p:nvSpPr>
        <p:spPr>
          <a:xfrm>
            <a:off x="99425" y="1508675"/>
            <a:ext cx="8915400" cy="684900"/>
          </a:xfrm>
          <a:prstGeom prst="rect">
            <a:avLst/>
          </a:prstGeom>
          <a:noFill/>
          <a:ln>
            <a:noFill/>
          </a:ln>
        </p:spPr>
        <p:txBody>
          <a:bodyPr spcFirstLastPara="1" wrap="square" lIns="165100" tIns="0" rIns="0" bIns="190500" anchor="t" anchorCtr="0">
            <a:spAutoFit/>
          </a:bodyPr>
          <a:lstStyle/>
          <a:p>
            <a:pPr marL="0" marR="0" lvl="0" indent="0" algn="ctr" rtl="0">
              <a:lnSpc>
                <a:spcPct val="100000"/>
              </a:lnSpc>
              <a:spcBef>
                <a:spcPts val="0"/>
              </a:spcBef>
              <a:spcAft>
                <a:spcPts val="0"/>
              </a:spcAft>
              <a:buNone/>
            </a:pPr>
            <a:r>
              <a:rPr lang="en" sz="1600" b="1" i="0" u="none" strike="noStrike" cap="none" dirty="0">
                <a:solidFill>
                  <a:srgbClr val="1F2728"/>
                </a:solidFill>
                <a:latin typeface="Roboto"/>
                <a:ea typeface="Roboto"/>
                <a:cs typeface="Roboto"/>
                <a:sym typeface="Roboto"/>
              </a:rPr>
              <a:t>Team Members:</a:t>
            </a:r>
            <a:r>
              <a:rPr lang="en" sz="1600" b="0" i="0" u="none" strike="noStrike" cap="none" dirty="0">
                <a:solidFill>
                  <a:srgbClr val="1F2728"/>
                </a:solidFill>
                <a:latin typeface="Roboto"/>
                <a:ea typeface="Roboto"/>
                <a:cs typeface="Roboto"/>
                <a:sym typeface="Roboto"/>
              </a:rPr>
              <a:t> Negin Nazemzadeh, Yugaank Kalia, Aaron Cyril John, Varen </a:t>
            </a:r>
            <a:r>
              <a:rPr lang="en" sz="1600" dirty="0">
                <a:solidFill>
                  <a:srgbClr val="1F2728"/>
                </a:solidFill>
                <a:latin typeface="Roboto"/>
                <a:ea typeface="Roboto"/>
                <a:cs typeface="Roboto"/>
                <a:sym typeface="Roboto"/>
              </a:rPr>
              <a:t>Maniktala, Gaurav Mahajan, Manish Cheeti</a:t>
            </a:r>
            <a:endParaRPr dirty="0"/>
          </a:p>
        </p:txBody>
      </p:sp>
      <p:pic>
        <p:nvPicPr>
          <p:cNvPr id="118" name="Google Shape;118;p26"/>
          <p:cNvPicPr preferRelativeResize="0"/>
          <p:nvPr/>
        </p:nvPicPr>
        <p:blipFill>
          <a:blip r:embed="rId3">
            <a:alphaModFix/>
          </a:blip>
          <a:stretch>
            <a:fillRect/>
          </a:stretch>
        </p:blipFill>
        <p:spPr>
          <a:xfrm>
            <a:off x="2253886" y="2267182"/>
            <a:ext cx="4343400" cy="24797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a:bodyPr>
          <a:lstStyle/>
          <a:p>
            <a:pPr marL="457200" lvl="0" indent="-368300" algn="l" rtl="0">
              <a:spcBef>
                <a:spcPts val="0"/>
              </a:spcBef>
              <a:spcAft>
                <a:spcPts val="0"/>
              </a:spcAft>
              <a:buSzPts val="2200"/>
              <a:buAutoNum type="arabicPeriod"/>
            </a:pPr>
            <a:r>
              <a:rPr lang="en" b="1"/>
              <a:t>Introduction </a:t>
            </a:r>
            <a:endParaRPr b="1"/>
          </a:p>
        </p:txBody>
      </p:sp>
      <p:pic>
        <p:nvPicPr>
          <p:cNvPr id="124" name="Google Shape;124;p27"/>
          <p:cNvPicPr preferRelativeResize="0"/>
          <p:nvPr/>
        </p:nvPicPr>
        <p:blipFill>
          <a:blip r:embed="rId3">
            <a:alphaModFix/>
          </a:blip>
          <a:stretch>
            <a:fillRect/>
          </a:stretch>
        </p:blipFill>
        <p:spPr>
          <a:xfrm>
            <a:off x="3777800" y="1813750"/>
            <a:ext cx="5054500" cy="2983625"/>
          </a:xfrm>
          <a:prstGeom prst="rect">
            <a:avLst/>
          </a:prstGeom>
          <a:noFill/>
          <a:ln>
            <a:noFill/>
          </a:ln>
        </p:spPr>
      </p:pic>
      <p:sp>
        <p:nvSpPr>
          <p:cNvPr id="125" name="Google Shape;125;p27"/>
          <p:cNvSpPr txBox="1">
            <a:spLocks noGrp="1"/>
          </p:cNvSpPr>
          <p:nvPr>
            <p:ph type="body" idx="1"/>
          </p:nvPr>
        </p:nvSpPr>
        <p:spPr>
          <a:xfrm>
            <a:off x="311700" y="551800"/>
            <a:ext cx="8520600" cy="2760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200">
                <a:solidFill>
                  <a:srgbClr val="000000"/>
                </a:solidFill>
                <a:latin typeface="Roboto"/>
                <a:ea typeface="Roboto"/>
                <a:cs typeface="Roboto"/>
                <a:sym typeface="Roboto"/>
              </a:rPr>
              <a:t>Financial fraud is a major threat in digital payments, costing institutions billions annually. This project builds a fully serverless, event‑driven real‑time credit card fraud detection pipeline on AWS. It continuously ingests transactions, computes rule‑based and anomaly‑based risk scores, triggers alerts via SNS, stores enriched records, and offers a web console for investigators. The system operates within AWS Free Tier limits while maintaining production‑grade principles scalability, fault tolerance, observability, and low latency (&lt;500 ms p95).</a:t>
            </a:r>
            <a:endParaRPr sz="1200">
              <a:solidFill>
                <a:srgbClr val="000000"/>
              </a:solidFill>
              <a:latin typeface="Roboto"/>
              <a:ea typeface="Roboto"/>
              <a:cs typeface="Roboto"/>
              <a:sym typeface="Roboto"/>
            </a:endParaRPr>
          </a:p>
          <a:p>
            <a:pPr marL="0" lvl="0" indent="0" algn="l" rtl="0">
              <a:spcBef>
                <a:spcPts val="1200"/>
              </a:spcBef>
              <a:spcAft>
                <a:spcPts val="0"/>
              </a:spcAft>
              <a:buNone/>
            </a:pPr>
            <a:r>
              <a:rPr lang="en" sz="1200">
                <a:solidFill>
                  <a:srgbClr val="000000"/>
                </a:solidFill>
                <a:latin typeface="Roboto"/>
                <a:ea typeface="Roboto"/>
                <a:cs typeface="Roboto"/>
                <a:sym typeface="Roboto"/>
              </a:rPr>
              <a:t>Goals</a:t>
            </a:r>
            <a:endParaRPr sz="1200">
              <a:solidFill>
                <a:srgbClr val="000000"/>
              </a:solidFill>
              <a:latin typeface="Roboto"/>
              <a:ea typeface="Roboto"/>
              <a:cs typeface="Roboto"/>
              <a:sym typeface="Roboto"/>
            </a:endParaRPr>
          </a:p>
          <a:p>
            <a:pPr marL="457200" lvl="0" indent="-304800" algn="l" rtl="0">
              <a:spcBef>
                <a:spcPts val="60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Stream synthetic transactions in real time.</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Apply hybrid (rule + anomaly) risk scoring.</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Persist enriched results for analysis.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Notify investigators of high‑risk events.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AutoNum type="arabicPeriod"/>
            </a:pPr>
            <a:r>
              <a:rPr lang="en" sz="1200">
                <a:solidFill>
                  <a:srgbClr val="000000"/>
                </a:solidFill>
                <a:latin typeface="Roboto"/>
                <a:ea typeface="Roboto"/>
                <a:cs typeface="Roboto"/>
                <a:sym typeface="Roboto"/>
              </a:rPr>
              <a:t>Provide a browser‑based review console.</a:t>
            </a:r>
            <a:endParaRPr sz="1200">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200"/>
              <a:t>The Problem: Real-Time Fraud in the Financial World</a:t>
            </a:r>
            <a:endParaRPr/>
          </a:p>
        </p:txBody>
      </p:sp>
      <p:sp>
        <p:nvSpPr>
          <p:cNvPr id="131" name="Google Shape;131;p28"/>
          <p:cNvSpPr txBox="1">
            <a:spLocks noGrp="1"/>
          </p:cNvSpPr>
          <p:nvPr>
            <p:ph type="subTitle" idx="2"/>
          </p:nvPr>
        </p:nvSpPr>
        <p:spPr>
          <a:xfrm>
            <a:off x="329400" y="603102"/>
            <a:ext cx="8520600" cy="583500"/>
          </a:xfrm>
          <a:prstGeom prst="rect">
            <a:avLst/>
          </a:prstGeom>
          <a:noFill/>
          <a:ln>
            <a:noFill/>
          </a:ln>
        </p:spPr>
        <p:txBody>
          <a:bodyPr spcFirstLastPara="1" wrap="square" lIns="91425" tIns="0" rIns="91425" bIns="91425" anchor="t" anchorCtr="0">
            <a:noAutofit/>
          </a:bodyPr>
          <a:lstStyle/>
          <a:p>
            <a:pPr marL="0" lvl="0" indent="0" algn="l" rtl="0">
              <a:lnSpc>
                <a:spcPct val="80000"/>
              </a:lnSpc>
              <a:spcBef>
                <a:spcPts val="0"/>
              </a:spcBef>
              <a:spcAft>
                <a:spcPts val="0"/>
              </a:spcAft>
              <a:buSzPts val="1800"/>
              <a:buNone/>
            </a:pPr>
            <a:r>
              <a:rPr lang="en" sz="1100"/>
              <a:t>This presentation showcases our team project: a real-time credit card fraud detection system built on AWS using serverless architecture. The system is designed to simulate live financial transactions, detect anomalies using statistical and rule-based logic, and generate actionable alerts. We'll explore the motivation behind the project, our architectural design, implementation challenges, and the results of our simulated deployment.</a:t>
            </a:r>
            <a:endParaRPr sz="1100"/>
          </a:p>
        </p:txBody>
      </p:sp>
      <p:sp>
        <p:nvSpPr>
          <p:cNvPr id="132" name="Google Shape;132;p2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3" name="Google Shape;133;p2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4" name="Google Shape;134;p2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5" name="Google Shape;135;p28"/>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6" name="Google Shape;136;p28"/>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7" name="Google Shape;137;p28"/>
          <p:cNvSpPr/>
          <p:nvPr/>
        </p:nvSpPr>
        <p:spPr>
          <a:xfrm>
            <a:off x="228600" y="1508670"/>
            <a:ext cx="4172694"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8" name="Google Shape;138;p28"/>
          <p:cNvSpPr txBox="1"/>
          <p:nvPr/>
        </p:nvSpPr>
        <p:spPr>
          <a:xfrm>
            <a:off x="0" y="1292500"/>
            <a:ext cx="4683000" cy="3393900"/>
          </a:xfrm>
          <a:prstGeom prst="rect">
            <a:avLst/>
          </a:prstGeom>
          <a:noFill/>
          <a:ln>
            <a:noFill/>
          </a:ln>
        </p:spPr>
        <p:txBody>
          <a:bodyPr spcFirstLastPara="1" wrap="square" lIns="165100" tIns="0" rIns="0" bIns="190500" anchor="t" anchorCtr="0">
            <a:spAutoFit/>
          </a:bodyPr>
          <a:lstStyle/>
          <a:p>
            <a:pPr marL="457200" marR="0" lvl="0" indent="-311150" algn="l" rtl="0">
              <a:lnSpc>
                <a:spcPct val="100000"/>
              </a:lnSpc>
              <a:spcBef>
                <a:spcPts val="0"/>
              </a:spcBef>
              <a:spcAft>
                <a:spcPts val="0"/>
              </a:spcAft>
              <a:buClr>
                <a:srgbClr val="1F2728"/>
              </a:buClr>
              <a:buSzPts val="1300"/>
              <a:buFont typeface="Roboto"/>
              <a:buChar char="•"/>
            </a:pPr>
            <a:r>
              <a:rPr lang="en" sz="1300" b="1" i="0" u="none" strike="noStrike" cap="none">
                <a:solidFill>
                  <a:srgbClr val="1F2728"/>
                </a:solidFill>
                <a:latin typeface="Roboto"/>
                <a:ea typeface="Roboto"/>
                <a:cs typeface="Roboto"/>
                <a:sym typeface="Roboto"/>
              </a:rPr>
              <a:t>Massive Financial Impact:</a:t>
            </a:r>
            <a:r>
              <a:rPr lang="en" sz="1300" b="0" i="0" u="none" strike="noStrike" cap="none">
                <a:solidFill>
                  <a:srgbClr val="1F2728"/>
                </a:solidFill>
                <a:latin typeface="Roboto"/>
                <a:ea typeface="Roboto"/>
                <a:cs typeface="Roboto"/>
                <a:sym typeface="Roboto"/>
              </a:rPr>
              <a:t> Global credit card fraud losses surpassed $30 billion in 2023, with rapid growth in online and mobile transactions making detection more complex.</a:t>
            </a:r>
            <a:endParaRPr sz="1300"/>
          </a:p>
          <a:p>
            <a:pPr marL="457200" marR="0" lvl="0" indent="-311150" algn="l" rtl="0">
              <a:lnSpc>
                <a:spcPct val="100000"/>
              </a:lnSpc>
              <a:spcBef>
                <a:spcPts val="0"/>
              </a:spcBef>
              <a:spcAft>
                <a:spcPts val="0"/>
              </a:spcAft>
              <a:buClr>
                <a:srgbClr val="1F2728"/>
              </a:buClr>
              <a:buSzPts val="1300"/>
              <a:buFont typeface="Roboto"/>
              <a:buChar char="•"/>
            </a:pPr>
            <a:r>
              <a:rPr lang="en" sz="1300" b="1" i="0" u="none" strike="noStrike" cap="none">
                <a:solidFill>
                  <a:srgbClr val="1F2728"/>
                </a:solidFill>
                <a:latin typeface="Roboto"/>
                <a:ea typeface="Roboto"/>
                <a:cs typeface="Roboto"/>
                <a:sym typeface="Roboto"/>
              </a:rPr>
              <a:t>Time-Sensitive Threats:</a:t>
            </a:r>
            <a:r>
              <a:rPr lang="en" sz="1300" b="0" i="0" u="none" strike="noStrike" cap="none">
                <a:solidFill>
                  <a:srgbClr val="1F2728"/>
                </a:solidFill>
                <a:latin typeface="Roboto"/>
                <a:ea typeface="Roboto"/>
                <a:cs typeface="Roboto"/>
                <a:sym typeface="Roboto"/>
              </a:rPr>
              <a:t> Fraudulent transactions can occur and complete within seconds, rendering delayed detection approaches ineffective for real-time prevention.</a:t>
            </a:r>
            <a:endParaRPr sz="1300"/>
          </a:p>
          <a:p>
            <a:pPr marL="457200" marR="0" lvl="0" indent="-311150" algn="l" rtl="0">
              <a:lnSpc>
                <a:spcPct val="100000"/>
              </a:lnSpc>
              <a:spcBef>
                <a:spcPts val="0"/>
              </a:spcBef>
              <a:spcAft>
                <a:spcPts val="0"/>
              </a:spcAft>
              <a:buClr>
                <a:srgbClr val="1F2728"/>
              </a:buClr>
              <a:buSzPts val="1300"/>
              <a:buFont typeface="Roboto"/>
              <a:buChar char="•"/>
            </a:pPr>
            <a:r>
              <a:rPr lang="en" sz="1300" b="1" i="0" u="none" strike="noStrike" cap="none">
                <a:solidFill>
                  <a:srgbClr val="1F2728"/>
                </a:solidFill>
                <a:latin typeface="Roboto"/>
                <a:ea typeface="Roboto"/>
                <a:cs typeface="Roboto"/>
                <a:sym typeface="Roboto"/>
              </a:rPr>
              <a:t>Limitations of Traditional Systems:</a:t>
            </a:r>
            <a:r>
              <a:rPr lang="en" sz="1300" b="0" i="0" u="none" strike="noStrike" cap="none">
                <a:solidFill>
                  <a:srgbClr val="1F2728"/>
                </a:solidFill>
                <a:latin typeface="Roboto"/>
                <a:ea typeface="Roboto"/>
                <a:cs typeface="Roboto"/>
                <a:sym typeface="Roboto"/>
              </a:rPr>
              <a:t> Legacy systems rely on static rules and batch processing, lacking adaptability to evolving fraud tactics and real-time data flow.</a:t>
            </a:r>
            <a:endParaRPr sz="1300"/>
          </a:p>
          <a:p>
            <a:pPr marL="457200" marR="0" lvl="0" indent="-311150" algn="l" rtl="0">
              <a:lnSpc>
                <a:spcPct val="100000"/>
              </a:lnSpc>
              <a:spcBef>
                <a:spcPts val="0"/>
              </a:spcBef>
              <a:spcAft>
                <a:spcPts val="0"/>
              </a:spcAft>
              <a:buClr>
                <a:srgbClr val="1F2728"/>
              </a:buClr>
              <a:buSzPts val="1300"/>
              <a:buFont typeface="Roboto"/>
              <a:buChar char="•"/>
            </a:pPr>
            <a:r>
              <a:rPr lang="en" sz="1300" b="1" i="0" u="none" strike="noStrike" cap="none">
                <a:solidFill>
                  <a:srgbClr val="1F2728"/>
                </a:solidFill>
                <a:latin typeface="Roboto"/>
                <a:ea typeface="Roboto"/>
                <a:cs typeface="Roboto"/>
                <a:sym typeface="Roboto"/>
              </a:rPr>
              <a:t>Need for Intelligent, Cloud-Based Solutions:</a:t>
            </a:r>
            <a:r>
              <a:rPr lang="en" sz="1300" b="0" i="0" u="none" strike="noStrike" cap="none">
                <a:solidFill>
                  <a:srgbClr val="1F2728"/>
                </a:solidFill>
                <a:latin typeface="Roboto"/>
                <a:ea typeface="Roboto"/>
                <a:cs typeface="Roboto"/>
                <a:sym typeface="Roboto"/>
              </a:rPr>
              <a:t> Modern fraud detection requires streaming data, immediate decision-making, and scalable infrastructure – ideally implemented via serverless cloud services.</a:t>
            </a:r>
            <a:endParaRPr sz="1300"/>
          </a:p>
        </p:txBody>
      </p:sp>
      <p:sp>
        <p:nvSpPr>
          <p:cNvPr id="139" name="Google Shape;139;p28"/>
          <p:cNvSpPr/>
          <p:nvPr/>
        </p:nvSpPr>
        <p:spPr>
          <a:xfrm>
            <a:off x="4589710" y="1508670"/>
            <a:ext cx="4173140" cy="258142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0" name="Google Shape;140;p28"/>
          <p:cNvSpPr/>
          <p:nvPr/>
        </p:nvSpPr>
        <p:spPr>
          <a:xfrm>
            <a:off x="4589710" y="1508670"/>
            <a:ext cx="4173140" cy="258142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1" name="Google Shape;141;p28"/>
          <p:cNvSpPr txBox="1"/>
          <p:nvPr/>
        </p:nvSpPr>
        <p:spPr>
          <a:xfrm>
            <a:off x="4589710" y="1508670"/>
            <a:ext cx="4173140" cy="234925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42" name="Google Shape;142;p28"/>
          <p:cNvSpPr/>
          <p:nvPr/>
        </p:nvSpPr>
        <p:spPr>
          <a:xfrm>
            <a:off x="4589710" y="3934122"/>
            <a:ext cx="4173140" cy="15582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43" name="Google Shape;143;p28" descr="A person in a hoodie holding a credit card and using a computer&#10;&#10;AI-generated content may be incorrect."/>
          <p:cNvPicPr preferRelativeResize="0"/>
          <p:nvPr/>
        </p:nvPicPr>
        <p:blipFill rotWithShape="1">
          <a:blip r:embed="rId3">
            <a:alphaModFix/>
          </a:blip>
          <a:srcRect/>
          <a:stretch/>
        </p:blipFill>
        <p:spPr>
          <a:xfrm>
            <a:off x="4682950" y="1364475"/>
            <a:ext cx="4080051" cy="3488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title"/>
          </p:nvPr>
        </p:nvSpPr>
        <p:spPr>
          <a:xfrm>
            <a:off x="311700" y="0"/>
            <a:ext cx="8520600" cy="712800"/>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200"/>
              <a:t>System Overview: Real-Time Fraud Detection Pipeline</a:t>
            </a:r>
            <a:endParaRPr/>
          </a:p>
        </p:txBody>
      </p:sp>
      <p:sp>
        <p:nvSpPr>
          <p:cNvPr id="149" name="Google Shape;149;p29"/>
          <p:cNvSpPr txBox="1"/>
          <p:nvPr/>
        </p:nvSpPr>
        <p:spPr>
          <a:xfrm>
            <a:off x="-25400" y="1059645"/>
            <a:ext cx="8534400" cy="2347200"/>
          </a:xfrm>
          <a:prstGeom prst="rect">
            <a:avLst/>
          </a:prstGeom>
          <a:noFill/>
          <a:ln>
            <a:noFill/>
          </a:ln>
        </p:spPr>
        <p:txBody>
          <a:bodyPr spcFirstLastPara="1" wrap="square" lIns="165100" tIns="0" rIns="0" bIns="190500" anchor="t" anchorCtr="0">
            <a:spAutoFit/>
          </a:bodyPr>
          <a:lstStyle/>
          <a:p>
            <a:pPr marL="422910" marR="0" lvl="0" indent="-256117" algn="l" rtl="0">
              <a:lnSpc>
                <a:spcPct val="100000"/>
              </a:lnSpc>
              <a:spcBef>
                <a:spcPts val="0"/>
              </a:spcBef>
              <a:spcAft>
                <a:spcPts val="0"/>
              </a:spcAft>
              <a:buClr>
                <a:srgbClr val="000000"/>
              </a:buClr>
              <a:buSzPts val="1400"/>
              <a:buFont typeface="Arial"/>
              <a:buAutoNum type="arabicPeriod"/>
            </a:pPr>
            <a:r>
              <a:rPr lang="en" b="1" i="0" u="none" strike="noStrike" cap="none">
                <a:solidFill>
                  <a:srgbClr val="1F2728"/>
                </a:solidFill>
                <a:latin typeface="Roboto"/>
                <a:ea typeface="Roboto"/>
                <a:cs typeface="Roboto"/>
                <a:sym typeface="Roboto"/>
              </a:rPr>
              <a:t>Simulated Transaction Generation:</a:t>
            </a:r>
            <a:r>
              <a:rPr lang="en" b="0" i="0" u="none" strike="noStrike" cap="none">
                <a:solidFill>
                  <a:srgbClr val="1F2728"/>
                </a:solidFill>
                <a:latin typeface="Roboto"/>
                <a:ea typeface="Roboto"/>
                <a:cs typeface="Roboto"/>
                <a:sym typeface="Roboto"/>
              </a:rPr>
              <a:t> Credit card transactions are synthetically generated every minute with realistic fields such as userId, amount, merchant, and geolocation.</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AutoNum type="arabicPeriod"/>
            </a:pPr>
            <a:r>
              <a:rPr lang="en" b="1" i="0" u="none" strike="noStrike" cap="none">
                <a:solidFill>
                  <a:srgbClr val="1F2728"/>
                </a:solidFill>
                <a:latin typeface="Roboto"/>
                <a:ea typeface="Roboto"/>
                <a:cs typeface="Roboto"/>
                <a:sym typeface="Roboto"/>
              </a:rPr>
              <a:t>Real-Time Processing Pipeline:</a:t>
            </a:r>
            <a:r>
              <a:rPr lang="en" b="0" i="0" u="none" strike="noStrike" cap="none">
                <a:solidFill>
                  <a:srgbClr val="1F2728"/>
                </a:solidFill>
                <a:latin typeface="Roboto"/>
                <a:ea typeface="Roboto"/>
                <a:cs typeface="Roboto"/>
                <a:sym typeface="Roboto"/>
              </a:rPr>
              <a:t> EventBridge triggers Lambda, pushing transactions to SQS for buffering. This ensures scalable, decoupled ingestion for downstream analysis.</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AutoNum type="arabicPeriod"/>
            </a:pPr>
            <a:r>
              <a:rPr lang="en" b="1" i="0" u="none" strike="noStrike" cap="none">
                <a:solidFill>
                  <a:srgbClr val="1F2728"/>
                </a:solidFill>
                <a:latin typeface="Roboto"/>
                <a:ea typeface="Roboto"/>
                <a:cs typeface="Roboto"/>
                <a:sym typeface="Roboto"/>
              </a:rPr>
              <a:t>Anomaly Detection Logic:</a:t>
            </a:r>
            <a:r>
              <a:rPr lang="en" b="0" i="0" u="none" strike="noStrike" cap="none">
                <a:solidFill>
                  <a:srgbClr val="1F2728"/>
                </a:solidFill>
                <a:latin typeface="Roboto"/>
                <a:ea typeface="Roboto"/>
                <a:cs typeface="Roboto"/>
                <a:sym typeface="Roboto"/>
              </a:rPr>
              <a:t> Transactions are scored using a rolling Z-score model and rule-based heuristics (e.g., geolocation shift, high amount anomalies).</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AutoNum type="arabicPeriod"/>
            </a:pPr>
            <a:r>
              <a:rPr lang="en" b="1" i="0" u="none" strike="noStrike" cap="none">
                <a:solidFill>
                  <a:srgbClr val="1F2728"/>
                </a:solidFill>
                <a:latin typeface="Roboto"/>
                <a:ea typeface="Roboto"/>
                <a:cs typeface="Roboto"/>
                <a:sym typeface="Roboto"/>
              </a:rPr>
              <a:t>Fraud Flags &amp; Alerts:</a:t>
            </a:r>
            <a:r>
              <a:rPr lang="en" b="0" i="0" u="none" strike="noStrike" cap="none">
                <a:solidFill>
                  <a:srgbClr val="1F2728"/>
                </a:solidFill>
                <a:latin typeface="Roboto"/>
                <a:ea typeface="Roboto"/>
                <a:cs typeface="Roboto"/>
                <a:sym typeface="Roboto"/>
              </a:rPr>
              <a:t> Suspicious activity is immediately flagged, accounts can be held, and alerts are pushed via SNS for investigation.</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AutoNum type="arabicPeriod"/>
            </a:pPr>
            <a:r>
              <a:rPr lang="en" b="1" i="0" u="none" strike="noStrike" cap="none">
                <a:solidFill>
                  <a:srgbClr val="1F2728"/>
                </a:solidFill>
                <a:latin typeface="Roboto"/>
                <a:ea typeface="Roboto"/>
                <a:cs typeface="Roboto"/>
                <a:sym typeface="Roboto"/>
              </a:rPr>
              <a:t>Data Persistence &amp; Investigator Access:</a:t>
            </a:r>
            <a:r>
              <a:rPr lang="en" b="0" i="0" u="none" strike="noStrike" cap="none">
                <a:solidFill>
                  <a:srgbClr val="1F2728"/>
                </a:solidFill>
                <a:latin typeface="Roboto"/>
                <a:ea typeface="Roboto"/>
                <a:cs typeface="Roboto"/>
                <a:sym typeface="Roboto"/>
              </a:rPr>
              <a:t> All transaction states are stored in DynamoDB and made accessible through an API Gateway for fraud investigators.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0"/>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b="1">
                <a:solidFill>
                  <a:srgbClr val="000000"/>
                </a:solidFill>
                <a:latin typeface="Roboto"/>
                <a:ea typeface="Roboto"/>
                <a:cs typeface="Roboto"/>
                <a:sym typeface="Roboto"/>
              </a:rPr>
              <a:t>2. System Architecture</a:t>
            </a:r>
            <a:endParaRPr sz="2100">
              <a:latin typeface="Roboto"/>
              <a:ea typeface="Roboto"/>
              <a:cs typeface="Roboto"/>
              <a:sym typeface="Roboto"/>
            </a:endParaRPr>
          </a:p>
        </p:txBody>
      </p:sp>
      <p:sp>
        <p:nvSpPr>
          <p:cNvPr id="155" name="Google Shape;155;p30"/>
          <p:cNvSpPr txBox="1">
            <a:spLocks noGrp="1"/>
          </p:cNvSpPr>
          <p:nvPr>
            <p:ph type="subTitle" idx="2"/>
          </p:nvPr>
        </p:nvSpPr>
        <p:spPr>
          <a:xfrm>
            <a:off x="311699" y="605601"/>
            <a:ext cx="8520600" cy="481800"/>
          </a:xfrm>
          <a:prstGeom prst="rect">
            <a:avLst/>
          </a:prstGeom>
        </p:spPr>
        <p:txBody>
          <a:bodyPr spcFirstLastPara="1" wrap="square" lIns="91425" tIns="0" rIns="91425" bIns="91425" anchor="t" anchorCtr="0">
            <a:normAutofit fontScale="40000" lnSpcReduction="20000"/>
          </a:bodyPr>
          <a:lstStyle/>
          <a:p>
            <a:pPr marL="0" lvl="0" indent="0" algn="l" rtl="0">
              <a:lnSpc>
                <a:spcPct val="115000"/>
              </a:lnSpc>
              <a:spcBef>
                <a:spcPts val="1200"/>
              </a:spcBef>
              <a:spcAft>
                <a:spcPts val="1200"/>
              </a:spcAft>
              <a:buNone/>
            </a:pPr>
            <a:r>
              <a:rPr lang="en" sz="1200">
                <a:solidFill>
                  <a:srgbClr val="000000"/>
                </a:solidFill>
                <a:latin typeface="Roboto"/>
                <a:ea typeface="Roboto"/>
                <a:cs typeface="Roboto"/>
                <a:sym typeface="Roboto"/>
              </a:rPr>
              <a:t>This architecture is </a:t>
            </a:r>
            <a:r>
              <a:rPr lang="en" sz="1200" b="1">
                <a:solidFill>
                  <a:srgbClr val="000000"/>
                </a:solidFill>
                <a:latin typeface="Roboto"/>
                <a:ea typeface="Roboto"/>
                <a:cs typeface="Roboto"/>
                <a:sym typeface="Roboto"/>
              </a:rPr>
              <a:t>fully asynchronous and event-driven</a:t>
            </a:r>
            <a:r>
              <a:rPr lang="en" sz="1200">
                <a:solidFill>
                  <a:srgbClr val="000000"/>
                </a:solidFill>
                <a:latin typeface="Roboto"/>
                <a:ea typeface="Roboto"/>
                <a:cs typeface="Roboto"/>
                <a:sym typeface="Roboto"/>
              </a:rPr>
              <a:t>, eliminating tight coupling and guaranteeing scalability.</a:t>
            </a:r>
            <a:endParaRPr sz="1200">
              <a:latin typeface="Roboto"/>
              <a:ea typeface="Roboto"/>
              <a:cs typeface="Roboto"/>
              <a:sym typeface="Roboto"/>
            </a:endParaRPr>
          </a:p>
        </p:txBody>
      </p:sp>
      <p:pic>
        <p:nvPicPr>
          <p:cNvPr id="156" name="Google Shape;156;p30"/>
          <p:cNvPicPr preferRelativeResize="0"/>
          <p:nvPr/>
        </p:nvPicPr>
        <p:blipFill>
          <a:blip r:embed="rId3">
            <a:alphaModFix/>
          </a:blip>
          <a:stretch>
            <a:fillRect/>
          </a:stretch>
        </p:blipFill>
        <p:spPr>
          <a:xfrm>
            <a:off x="75575" y="890825"/>
            <a:ext cx="6001075" cy="4031700"/>
          </a:xfrm>
          <a:prstGeom prst="rect">
            <a:avLst/>
          </a:prstGeom>
          <a:noFill/>
          <a:ln>
            <a:noFill/>
          </a:ln>
        </p:spPr>
      </p:pic>
      <p:sp>
        <p:nvSpPr>
          <p:cNvPr id="157" name="Google Shape;157;p30"/>
          <p:cNvSpPr txBox="1"/>
          <p:nvPr/>
        </p:nvSpPr>
        <p:spPr>
          <a:xfrm>
            <a:off x="6144000" y="936463"/>
            <a:ext cx="3000000" cy="403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200" b="1">
                <a:latin typeface="Roboto"/>
                <a:ea typeface="Roboto"/>
                <a:cs typeface="Roboto"/>
                <a:sym typeface="Roboto"/>
              </a:rPr>
              <a:t>High-Level Flow</a:t>
            </a:r>
            <a:endParaRPr sz="1200" b="1">
              <a:latin typeface="Roboto"/>
              <a:ea typeface="Roboto"/>
              <a:cs typeface="Roboto"/>
              <a:sym typeface="Roboto"/>
            </a:endParaRPr>
          </a:p>
          <a:p>
            <a:pPr marL="0" lvl="0" indent="0" algn="l" rtl="0">
              <a:lnSpc>
                <a:spcPct val="115000"/>
              </a:lnSpc>
              <a:spcBef>
                <a:spcPts val="400"/>
              </a:spcBef>
              <a:spcAft>
                <a:spcPts val="0"/>
              </a:spcAft>
              <a:buNone/>
            </a:pPr>
            <a:r>
              <a:rPr lang="en" sz="1200">
                <a:solidFill>
                  <a:srgbClr val="188038"/>
                </a:solidFill>
                <a:latin typeface="Roboto"/>
                <a:ea typeface="Roboto"/>
                <a:cs typeface="Roboto"/>
                <a:sym typeface="Roboto"/>
              </a:rPr>
              <a:t>EventBridge Scheduler</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tx-generator (Lambda)</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SQS (fraud-tx-queue)</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score-decide (Lambda)</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DynamoDB (fraud_table)        SNS Alerts → Email</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API Gateway (REST API)</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investigator-api (Lambda)</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       ↓</a:t>
            </a:r>
            <a:endParaRPr sz="120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rgbClr val="188038"/>
                </a:solidFill>
                <a:latin typeface="Roboto"/>
                <a:ea typeface="Roboto"/>
                <a:cs typeface="Roboto"/>
                <a:sym typeface="Roboto"/>
              </a:rPr>
              <a:t>S3 Static Web UI (Fraud Investigator Console)</a:t>
            </a:r>
            <a:endParaRPr sz="1200">
              <a:solidFill>
                <a:srgbClr val="188038"/>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1"/>
          <p:cNvSpPr txBox="1">
            <a:spLocks noGrp="1"/>
          </p:cNvSpPr>
          <p:nvPr>
            <p:ph type="title"/>
          </p:nvPr>
        </p:nvSpPr>
        <p:spPr>
          <a:xfrm>
            <a:off x="16145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400"/>
              </a:spcBef>
              <a:spcAft>
                <a:spcPts val="400"/>
              </a:spcAft>
              <a:buNone/>
            </a:pPr>
            <a:r>
              <a:rPr lang="en" b="1">
                <a:solidFill>
                  <a:srgbClr val="000000"/>
                </a:solidFill>
                <a:latin typeface="Roboto"/>
                <a:ea typeface="Roboto"/>
                <a:cs typeface="Roboto"/>
                <a:sym typeface="Roboto"/>
              </a:rPr>
              <a:t>Success Criteria</a:t>
            </a:r>
            <a:endParaRPr>
              <a:latin typeface="Roboto"/>
              <a:ea typeface="Roboto"/>
              <a:cs typeface="Roboto"/>
              <a:sym typeface="Roboto"/>
            </a:endParaRPr>
          </a:p>
        </p:txBody>
      </p:sp>
      <p:graphicFrame>
        <p:nvGraphicFramePr>
          <p:cNvPr id="163" name="Google Shape;163;p31"/>
          <p:cNvGraphicFramePr/>
          <p:nvPr/>
        </p:nvGraphicFramePr>
        <p:xfrm>
          <a:off x="225850" y="959650"/>
          <a:ext cx="5468150" cy="2377610"/>
        </p:xfrm>
        <a:graphic>
          <a:graphicData uri="http://schemas.openxmlformats.org/drawingml/2006/table">
            <a:tbl>
              <a:tblPr>
                <a:noFill/>
                <a:tableStyleId>{E56237A7-AE8C-4A5A-A484-94130E5B2B2B}</a:tableStyleId>
              </a:tblPr>
              <a:tblGrid>
                <a:gridCol w="841775"/>
                <a:gridCol w="1962575"/>
                <a:gridCol w="2663800"/>
              </a:tblGrid>
              <a:tr h="411800">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Category</a:t>
                      </a:r>
                      <a:endParaRPr sz="1200">
                        <a:latin typeface="Roboto"/>
                        <a:ea typeface="Roboto"/>
                        <a:cs typeface="Roboto"/>
                        <a:sym typeface="Roboto"/>
                      </a:endParaRPr>
                    </a:p>
                  </a:txBody>
                  <a:tcPr marL="91425" marR="91425" marT="91425" marB="91425">
                    <a:solidFill>
                      <a:srgbClr val="B6D7A8"/>
                    </a:solidFill>
                  </a:tcPr>
                </a:tc>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Target</a:t>
                      </a:r>
                      <a:endParaRPr sz="1200">
                        <a:latin typeface="Roboto"/>
                        <a:ea typeface="Roboto"/>
                        <a:cs typeface="Roboto"/>
                        <a:sym typeface="Roboto"/>
                      </a:endParaRPr>
                    </a:p>
                  </a:txBody>
                  <a:tcPr marL="91425" marR="91425" marT="91425" marB="91425">
                    <a:solidFill>
                      <a:srgbClr val="B6D7A8"/>
                    </a:solidFill>
                  </a:tcPr>
                </a:tc>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Result</a:t>
                      </a:r>
                      <a:endParaRPr sz="1200">
                        <a:latin typeface="Roboto"/>
                        <a:ea typeface="Roboto"/>
                        <a:cs typeface="Roboto"/>
                        <a:sym typeface="Roboto"/>
                      </a:endParaRPr>
                    </a:p>
                  </a:txBody>
                  <a:tcPr marL="91425" marR="91425" marT="91425" marB="91425">
                    <a:solidFill>
                      <a:srgbClr val="B6D7A8"/>
                    </a:solidFill>
                  </a:tcPr>
                </a:tc>
              </a:tr>
              <a:tr h="36922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Precision</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 85%</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Achieved (rule-based approx.)</a:t>
                      </a:r>
                      <a:endParaRPr sz="1200">
                        <a:latin typeface="Roboto"/>
                        <a:ea typeface="Roboto"/>
                        <a:cs typeface="Roboto"/>
                        <a:sym typeface="Roboto"/>
                      </a:endParaRPr>
                    </a:p>
                  </a:txBody>
                  <a:tcPr marL="91425" marR="91425" marT="91425" marB="91425"/>
                </a:tc>
              </a:tr>
              <a:tr h="36922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Recall</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 70%</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Achieved with synthetic balancing</a:t>
                      </a:r>
                      <a:endParaRPr sz="1200">
                        <a:latin typeface="Roboto"/>
                        <a:ea typeface="Roboto"/>
                        <a:cs typeface="Roboto"/>
                        <a:sym typeface="Roboto"/>
                      </a:endParaRPr>
                    </a:p>
                  </a:txBody>
                  <a:tcPr marL="91425" marR="91425" marT="91425" marB="91425"/>
                </a:tc>
              </a:tr>
              <a:tr h="36922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Latency</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&lt; 500 ms p95</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Achieved</a:t>
                      </a:r>
                      <a:endParaRPr sz="1200">
                        <a:latin typeface="Roboto"/>
                        <a:ea typeface="Roboto"/>
                        <a:cs typeface="Roboto"/>
                        <a:sym typeface="Roboto"/>
                      </a:endParaRPr>
                    </a:p>
                  </a:txBody>
                  <a:tcPr marL="91425" marR="91425" marT="91425" marB="91425"/>
                </a:tc>
              </a:tr>
              <a:tr h="36922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Alerts</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SNS triggers on high-risk</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Achieved</a:t>
                      </a:r>
                      <a:endParaRPr sz="1200">
                        <a:latin typeface="Roboto"/>
                        <a:ea typeface="Roboto"/>
                        <a:cs typeface="Roboto"/>
                        <a:sym typeface="Roboto"/>
                      </a:endParaRPr>
                    </a:p>
                  </a:txBody>
                  <a:tcPr marL="91425" marR="91425" marT="91425" marB="91425"/>
                </a:tc>
              </a:tr>
              <a:tr h="0">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UI</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Real-time dashboard</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Achieved</a:t>
                      </a:r>
                      <a:endParaRPr sz="1200">
                        <a:latin typeface="Roboto"/>
                        <a:ea typeface="Roboto"/>
                        <a:cs typeface="Roboto"/>
                        <a:sym typeface="Roboto"/>
                      </a:endParaRPr>
                    </a:p>
                  </a:txBody>
                  <a:tcPr marL="91425" marR="91425" marT="91425" marB="91425"/>
                </a:tc>
              </a:tr>
            </a:tbl>
          </a:graphicData>
        </a:graphic>
      </p:graphicFrame>
      <p:sp>
        <p:nvSpPr>
          <p:cNvPr id="164" name="Google Shape;164;p31"/>
          <p:cNvSpPr txBox="1"/>
          <p:nvPr/>
        </p:nvSpPr>
        <p:spPr>
          <a:xfrm>
            <a:off x="161450" y="3395875"/>
            <a:ext cx="8177700" cy="127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200">
                <a:solidFill>
                  <a:schemeClr val="dk1"/>
                </a:solidFill>
                <a:latin typeface="Roboto"/>
                <a:ea typeface="Roboto"/>
                <a:cs typeface="Roboto"/>
                <a:sym typeface="Roboto"/>
              </a:rPr>
              <a:t>Additionally, we maintained an end-to-end processing latency of under 500 milliseconds (p95), ensuring real-time responsiveness. Alerts were successfully delivered via AWS SNS when high-risk transactions were detected, and a fully functional real-time dashboard was developed for investigator review. This table validates that all core objectives were achieved within the project's technical and operational constraints.</a:t>
            </a:r>
            <a:endParaRPr sz="1200">
              <a:solidFill>
                <a:schemeClr val="dk1"/>
              </a:solidFill>
              <a:latin typeface="Roboto"/>
              <a:ea typeface="Roboto"/>
              <a:cs typeface="Roboto"/>
              <a:sym typeface="Roboto"/>
            </a:endParaRPr>
          </a:p>
          <a:p>
            <a:pPr marL="0" lvl="0" indent="0" algn="l" rtl="0">
              <a:spcBef>
                <a:spcPts val="1200"/>
              </a:spcBef>
              <a:spcAft>
                <a:spcPts val="0"/>
              </a:spcAft>
              <a:buNone/>
            </a:pPr>
            <a:endParaRPr sz="1200">
              <a:solidFill>
                <a:schemeClr val="accent3"/>
              </a:solidFill>
              <a:latin typeface="Roboto"/>
              <a:ea typeface="Roboto"/>
              <a:cs typeface="Roboto"/>
              <a:sym typeface="Roboto"/>
            </a:endParaRPr>
          </a:p>
        </p:txBody>
      </p:sp>
      <p:sp>
        <p:nvSpPr>
          <p:cNvPr id="165" name="Google Shape;165;p31"/>
          <p:cNvSpPr txBox="1"/>
          <p:nvPr/>
        </p:nvSpPr>
        <p:spPr>
          <a:xfrm>
            <a:off x="5945750" y="959700"/>
            <a:ext cx="2929800" cy="1559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sz="1200">
                <a:solidFill>
                  <a:schemeClr val="dk1"/>
                </a:solidFill>
                <a:latin typeface="Roboto"/>
                <a:ea typeface="Roboto"/>
                <a:cs typeface="Roboto"/>
                <a:sym typeface="Roboto"/>
              </a:rPr>
              <a:t>Key performance and functionality targets defined at the beginning of the project and their outcomes. Our goals included achieving a precision of at least 85% and a recall of 70%—both met through rule-based logic and synthetic dataset balancing.</a:t>
            </a:r>
            <a:endParaRPr sz="1800">
              <a:solidFill>
                <a:schemeClr val="dk1"/>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300" b="1">
                <a:latin typeface="Roboto"/>
                <a:ea typeface="Roboto"/>
                <a:cs typeface="Roboto"/>
                <a:sym typeface="Roboto"/>
              </a:rPr>
              <a:t>3. Architecture Deep Dive</a:t>
            </a:r>
            <a:endParaRPr sz="2300" b="1">
              <a:latin typeface="Roboto"/>
              <a:ea typeface="Roboto"/>
              <a:cs typeface="Roboto"/>
              <a:sym typeface="Roboto"/>
            </a:endParaRPr>
          </a:p>
        </p:txBody>
      </p:sp>
      <p:sp>
        <p:nvSpPr>
          <p:cNvPr id="171" name="Google Shape;171;p32"/>
          <p:cNvSpPr txBox="1">
            <a:spLocks noGrp="1"/>
          </p:cNvSpPr>
          <p:nvPr>
            <p:ph type="subTitle" idx="2"/>
          </p:nvPr>
        </p:nvSpPr>
        <p:spPr>
          <a:xfrm>
            <a:off x="311700" y="712924"/>
            <a:ext cx="8520600" cy="761100"/>
          </a:xfrm>
          <a:prstGeom prst="rect">
            <a:avLst/>
          </a:prstGeom>
          <a:noFill/>
          <a:ln>
            <a:noFill/>
          </a:ln>
        </p:spPr>
        <p:txBody>
          <a:bodyPr spcFirstLastPara="1" wrap="square" lIns="91425" tIns="0" rIns="91425" bIns="91425" anchor="t" anchorCtr="0">
            <a:noAutofit/>
          </a:bodyPr>
          <a:lstStyle/>
          <a:p>
            <a:pPr marL="0" lvl="0" indent="0" algn="l" rtl="0">
              <a:lnSpc>
                <a:spcPct val="100000"/>
              </a:lnSpc>
              <a:spcBef>
                <a:spcPts val="0"/>
              </a:spcBef>
              <a:spcAft>
                <a:spcPts val="0"/>
              </a:spcAft>
              <a:buSzPts val="3273"/>
              <a:buNone/>
            </a:pPr>
            <a:r>
              <a:rPr lang="en" sz="1200"/>
              <a:t>Transactions are synthetically generated and pushed into the pipeline via AWS EventBridge. They are queued in SQS, processed in real time using Lambda, scored for fraud risk, and flagged if anomalous. All transaction states are stored in DynamoDB, and investigators can access flagged data via an API. The system is fully serverless and built for responsiveness and scale.</a:t>
            </a:r>
            <a:endParaRPr sz="1200"/>
          </a:p>
        </p:txBody>
      </p:sp>
      <p:sp>
        <p:nvSpPr>
          <p:cNvPr id="172" name="Google Shape;172;p32"/>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3" name="Google Shape;173;p32"/>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4" name="Google Shape;174;p32"/>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5" name="Google Shape;175;p32"/>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6" name="Google Shape;176;p32"/>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7" name="Google Shape;177;p32"/>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8" name="Google Shape;178;p32"/>
          <p:cNvSpPr txBox="1"/>
          <p:nvPr/>
        </p:nvSpPr>
        <p:spPr>
          <a:xfrm>
            <a:off x="228600" y="1709520"/>
            <a:ext cx="8534400" cy="2347200"/>
          </a:xfrm>
          <a:prstGeom prst="rect">
            <a:avLst/>
          </a:prstGeom>
          <a:noFill/>
          <a:ln>
            <a:noFill/>
          </a:ln>
        </p:spPr>
        <p:txBody>
          <a:bodyPr spcFirstLastPara="1" wrap="square" lIns="165100" tIns="0" rIns="0" bIns="190500" anchor="t" anchorCtr="0">
            <a:spAutoFit/>
          </a:bodyPr>
          <a:lstStyle/>
          <a:p>
            <a:pPr marL="422910" marR="0" lvl="0" indent="-256117"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AWS EventBridge as Scheduler:</a:t>
            </a:r>
            <a:r>
              <a:rPr lang="en" b="0" i="0" u="none" strike="noStrike" cap="none">
                <a:solidFill>
                  <a:srgbClr val="1F2728"/>
                </a:solidFill>
                <a:latin typeface="Roboto"/>
                <a:ea typeface="Roboto"/>
                <a:cs typeface="Roboto"/>
                <a:sym typeface="Roboto"/>
              </a:rPr>
              <a:t> Triggers the transaction generator Lambda every minute, simulating real-time transaction flow.</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SQS for Buffering and Decoupling:</a:t>
            </a:r>
            <a:r>
              <a:rPr lang="en" b="0" i="0" u="none" strike="noStrike" cap="none">
                <a:solidFill>
                  <a:srgbClr val="1F2728"/>
                </a:solidFill>
                <a:latin typeface="Roboto"/>
                <a:ea typeface="Roboto"/>
                <a:cs typeface="Roboto"/>
                <a:sym typeface="Roboto"/>
              </a:rPr>
              <a:t> Provides reliable queuing between transaction ingestion and analysis, ensuring fault-tolerance and horizontal scalability.</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Lambda for Fraud Scoring:</a:t>
            </a:r>
            <a:r>
              <a:rPr lang="en" b="0" i="0" u="none" strike="noStrike" cap="none">
                <a:solidFill>
                  <a:srgbClr val="1F2728"/>
                </a:solidFill>
                <a:latin typeface="Roboto"/>
                <a:ea typeface="Roboto"/>
                <a:cs typeface="Roboto"/>
                <a:sym typeface="Roboto"/>
              </a:rPr>
              <a:t> Processes transactions from SQS using anomaly detection logic; outputs risk scores and flags into DynamoDB.</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DynamoDB and SNS Integration:</a:t>
            </a:r>
            <a:r>
              <a:rPr lang="en" b="0" i="0" u="none" strike="noStrike" cap="none">
                <a:solidFill>
                  <a:srgbClr val="1F2728"/>
                </a:solidFill>
                <a:latin typeface="Roboto"/>
                <a:ea typeface="Roboto"/>
                <a:cs typeface="Roboto"/>
                <a:sym typeface="Roboto"/>
              </a:rPr>
              <a:t> Stores all results persistently; triggers SNS alerts for transactions exceeding fraud thresholds.</a:t>
            </a:r>
            <a:endParaRPr b="0" i="0" u="none" strike="noStrike" cap="none">
              <a:solidFill>
                <a:srgbClr val="1F2728"/>
              </a:solidFill>
              <a:latin typeface="Roboto"/>
              <a:ea typeface="Roboto"/>
              <a:cs typeface="Roboto"/>
              <a:sym typeface="Roboto"/>
            </a:endParaRPr>
          </a:p>
          <a:p>
            <a:pPr marL="422910" marR="0" lvl="0" indent="-256117"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API Gateway + Lambda Viewer:</a:t>
            </a:r>
            <a:r>
              <a:rPr lang="en" b="0" i="0" u="none" strike="noStrike" cap="none">
                <a:solidFill>
                  <a:srgbClr val="1F2728"/>
                </a:solidFill>
                <a:latin typeface="Roboto"/>
                <a:ea typeface="Roboto"/>
                <a:cs typeface="Roboto"/>
                <a:sym typeface="Roboto"/>
              </a:rPr>
              <a:t> Supports fraud investigator dashboard/API for on-demand queries of flagged transactions.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Component-Level Deep Dive</a:t>
            </a:r>
            <a:endParaRPr>
              <a:latin typeface="Roboto"/>
              <a:ea typeface="Roboto"/>
              <a:cs typeface="Roboto"/>
              <a:sym typeface="Roboto"/>
            </a:endParaRPr>
          </a:p>
        </p:txBody>
      </p:sp>
      <p:sp>
        <p:nvSpPr>
          <p:cNvPr id="184" name="Google Shape;184;p33"/>
          <p:cNvSpPr txBox="1">
            <a:spLocks noGrp="1"/>
          </p:cNvSpPr>
          <p:nvPr>
            <p:ph type="body" idx="1"/>
          </p:nvPr>
        </p:nvSpPr>
        <p:spPr>
          <a:xfrm>
            <a:off x="311700" y="1750500"/>
            <a:ext cx="5108100" cy="3169500"/>
          </a:xfrm>
          <a:prstGeom prst="rect">
            <a:avLst/>
          </a:prstGeom>
        </p:spPr>
        <p:txBody>
          <a:bodyPr spcFirstLastPara="1" wrap="square" lIns="91425" tIns="91425" rIns="91425" bIns="91425" anchor="t" anchorCtr="0">
            <a:normAutofit fontScale="62500" lnSpcReduction="20000"/>
          </a:bodyPr>
          <a:lstStyle/>
          <a:p>
            <a:pPr marL="0" lvl="0" indent="0" algn="l" rtl="0">
              <a:spcBef>
                <a:spcPts val="1800"/>
              </a:spcBef>
              <a:spcAft>
                <a:spcPts val="0"/>
              </a:spcAft>
              <a:buNone/>
            </a:pPr>
            <a:r>
              <a:rPr lang="en" sz="1700" b="1">
                <a:solidFill>
                  <a:srgbClr val="000000"/>
                </a:solidFill>
                <a:latin typeface="Roboto"/>
                <a:ea typeface="Roboto"/>
                <a:cs typeface="Roboto"/>
                <a:sym typeface="Roboto"/>
              </a:rPr>
              <a:t>3.1 EventBridge Scheduler + tx-generator Lambda</a:t>
            </a:r>
            <a:endParaRPr sz="1700" b="1">
              <a:solidFill>
                <a:srgbClr val="000000"/>
              </a:solidFill>
              <a:latin typeface="Roboto"/>
              <a:ea typeface="Roboto"/>
              <a:cs typeface="Roboto"/>
              <a:sym typeface="Roboto"/>
            </a:endParaRPr>
          </a:p>
          <a:p>
            <a:pPr marL="0" lvl="0" indent="0" algn="l" rtl="0">
              <a:spcBef>
                <a:spcPts val="1400"/>
              </a:spcBef>
              <a:spcAft>
                <a:spcPts val="0"/>
              </a:spcAft>
              <a:buNone/>
            </a:pPr>
            <a:r>
              <a:rPr lang="en" sz="1300" b="1">
                <a:solidFill>
                  <a:srgbClr val="000000"/>
                </a:solidFill>
                <a:latin typeface="Roboto"/>
                <a:ea typeface="Roboto"/>
                <a:cs typeface="Roboto"/>
                <a:sym typeface="Roboto"/>
              </a:rPr>
              <a:t>Purpose</a:t>
            </a:r>
            <a:endParaRPr sz="1200" b="1">
              <a:solidFill>
                <a:srgbClr val="000000"/>
              </a:solidFill>
              <a:latin typeface="Roboto"/>
              <a:ea typeface="Roboto"/>
              <a:cs typeface="Roboto"/>
              <a:sym typeface="Roboto"/>
            </a:endParaRPr>
          </a:p>
          <a:p>
            <a:pPr marL="0" lvl="0" indent="0" algn="l" rtl="0">
              <a:spcBef>
                <a:spcPts val="1200"/>
              </a:spcBef>
              <a:spcAft>
                <a:spcPts val="0"/>
              </a:spcAft>
              <a:buNone/>
            </a:pPr>
            <a:r>
              <a:rPr lang="en" sz="1250">
                <a:solidFill>
                  <a:srgbClr val="000000"/>
                </a:solidFill>
                <a:latin typeface="Roboto"/>
                <a:ea typeface="Roboto"/>
                <a:cs typeface="Roboto"/>
                <a:sym typeface="Roboto"/>
              </a:rPr>
              <a:t>Simulates continuous real-world transaction flow with realistic variance in:</a:t>
            </a:r>
            <a:endParaRPr sz="1250">
              <a:solidFill>
                <a:srgbClr val="000000"/>
              </a:solidFill>
              <a:latin typeface="Roboto"/>
              <a:ea typeface="Roboto"/>
              <a:cs typeface="Roboto"/>
              <a:sym typeface="Roboto"/>
            </a:endParaRPr>
          </a:p>
          <a:p>
            <a:pPr marL="457200" lvl="0" indent="-290115" algn="l" rtl="0">
              <a:spcBef>
                <a:spcPts val="120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Amount</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90115" algn="l" rtl="0">
              <a:spcBef>
                <a:spcPts val="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Merchant category</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90115" algn="l" rtl="0">
              <a:spcBef>
                <a:spcPts val="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Geolocation</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90115" algn="l" rtl="0">
              <a:spcBef>
                <a:spcPts val="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Device fingerprint</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90115" algn="l" rtl="0">
              <a:spcBef>
                <a:spcPts val="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Transaction channel</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90115" algn="l" rtl="0">
              <a:spcBef>
                <a:spcPts val="0"/>
              </a:spcBef>
              <a:spcAft>
                <a:spcPts val="0"/>
              </a:spcAft>
              <a:buClr>
                <a:srgbClr val="000000"/>
              </a:buClr>
              <a:buSzPct val="100000"/>
              <a:buFont typeface="Roboto"/>
              <a:buChar char="●"/>
            </a:pPr>
            <a:r>
              <a:rPr lang="en" sz="1250">
                <a:solidFill>
                  <a:srgbClr val="000000"/>
                </a:solidFill>
                <a:latin typeface="Roboto"/>
                <a:ea typeface="Roboto"/>
                <a:cs typeface="Roboto"/>
                <a:sym typeface="Roboto"/>
              </a:rPr>
              <a:t>Fraud/no-fraud labels</a:t>
            </a:r>
            <a:br>
              <a:rPr lang="en" sz="1250">
                <a:solidFill>
                  <a:srgbClr val="000000"/>
                </a:solidFill>
                <a:latin typeface="Roboto"/>
                <a:ea typeface="Roboto"/>
                <a:cs typeface="Roboto"/>
                <a:sym typeface="Roboto"/>
              </a:rPr>
            </a:br>
            <a:endParaRPr sz="1250">
              <a:solidFill>
                <a:srgbClr val="000000"/>
              </a:solidFill>
              <a:latin typeface="Roboto"/>
              <a:ea typeface="Roboto"/>
              <a:cs typeface="Roboto"/>
              <a:sym typeface="Roboto"/>
            </a:endParaRPr>
          </a:p>
          <a:p>
            <a:pPr marL="457200" lvl="0" indent="-282733" algn="l" rtl="0">
              <a:spcBef>
                <a:spcPts val="0"/>
              </a:spcBef>
              <a:spcAft>
                <a:spcPts val="0"/>
              </a:spcAft>
              <a:buClr>
                <a:srgbClr val="000000"/>
              </a:buClr>
              <a:buSzPct val="88000"/>
              <a:buFont typeface="Arial"/>
              <a:buChar char="●"/>
            </a:pPr>
            <a:r>
              <a:rPr lang="en" sz="1250">
                <a:solidFill>
                  <a:srgbClr val="000000"/>
                </a:solidFill>
                <a:latin typeface="Roboto"/>
                <a:ea typeface="Roboto"/>
                <a:cs typeface="Roboto"/>
                <a:sym typeface="Roboto"/>
              </a:rPr>
              <a:t>Behavioral features (home country inference)</a:t>
            </a:r>
            <a:r>
              <a:rPr lang="en" sz="1100">
                <a:solidFill>
                  <a:srgbClr val="000000"/>
                </a:solidFill>
                <a:latin typeface="Arial"/>
                <a:ea typeface="Arial"/>
                <a:cs typeface="Arial"/>
                <a:sym typeface="Arial"/>
              </a:rPr>
              <a:t/>
            </a:r>
            <a:br>
              <a:rPr lang="en" sz="1100">
                <a:solidFill>
                  <a:srgbClr val="000000"/>
                </a:solidFill>
                <a:latin typeface="Arial"/>
                <a:ea typeface="Arial"/>
                <a:cs typeface="Arial"/>
                <a:sym typeface="Arial"/>
              </a:rPr>
            </a:br>
            <a:endParaRPr/>
          </a:p>
        </p:txBody>
      </p:sp>
      <p:sp>
        <p:nvSpPr>
          <p:cNvPr id="185" name="Google Shape;185;p33"/>
          <p:cNvSpPr txBox="1">
            <a:spLocks noGrp="1"/>
          </p:cNvSpPr>
          <p:nvPr>
            <p:ph type="subTitle" idx="2"/>
          </p:nvPr>
        </p:nvSpPr>
        <p:spPr>
          <a:xfrm>
            <a:off x="311700" y="712925"/>
            <a:ext cx="4893600" cy="9300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1200">
                <a:solidFill>
                  <a:schemeClr val="dk1"/>
                </a:solidFill>
                <a:latin typeface="Roboto"/>
                <a:ea typeface="Roboto"/>
                <a:cs typeface="Roboto"/>
                <a:sym typeface="Roboto"/>
              </a:rPr>
              <a:t>Why randomness matters? Fraud detection systems depend on distributional variation. We crafted synthetic transactions with parameters reflecting real-world distributions (small purchases common, large rare, user home country consistency, device persistence).</a:t>
            </a:r>
            <a:endParaRPr sz="1200">
              <a:solidFill>
                <a:schemeClr val="dk1"/>
              </a:solidFill>
              <a:latin typeface="Roboto"/>
              <a:ea typeface="Roboto"/>
              <a:cs typeface="Roboto"/>
              <a:sym typeface="Roboto"/>
            </a:endParaRPr>
          </a:p>
        </p:txBody>
      </p:sp>
      <p:sp>
        <p:nvSpPr>
          <p:cNvPr id="186" name="Google Shape;186;p33"/>
          <p:cNvSpPr txBox="1"/>
          <p:nvPr/>
        </p:nvSpPr>
        <p:spPr>
          <a:xfrm>
            <a:off x="5205300" y="422250"/>
            <a:ext cx="3798600" cy="452120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200" b="1" dirty="0">
                <a:latin typeface="Roboto"/>
                <a:ea typeface="Roboto"/>
                <a:cs typeface="Roboto"/>
                <a:sym typeface="Roboto"/>
              </a:rPr>
              <a:t>Transaction Schema (Example)</a:t>
            </a:r>
            <a:endParaRPr sz="1200" b="1" dirty="0">
              <a:latin typeface="Roboto"/>
              <a:ea typeface="Roboto"/>
              <a:cs typeface="Roboto"/>
              <a:sym typeface="Roboto"/>
            </a:endParaRPr>
          </a:p>
          <a:p>
            <a:pPr marL="0" lvl="0" indent="0" algn="l" rtl="0">
              <a:lnSpc>
                <a:spcPct val="115000"/>
              </a:lnSpc>
              <a:spcBef>
                <a:spcPts val="400"/>
              </a:spcBef>
              <a:spcAft>
                <a:spcPts val="0"/>
              </a:spcAft>
              <a:buNone/>
            </a:pPr>
            <a:r>
              <a:rPr lang="en" sz="1000" dirty="0">
                <a:solidFill>
                  <a:srgbClr val="188038"/>
                </a:solidFill>
                <a:latin typeface="Roboto"/>
                <a:ea typeface="Roboto"/>
                <a:cs typeface="Roboto"/>
                <a:sym typeface="Roboto"/>
              </a:rPr>
              <a:t>{</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"txnId": "uuid",</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"userId": "U3910",</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"ts": "2025-12-07T02:16:30Z",</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"amount": 148.85,</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"currency": "USD",</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"merchant": "AMZ-MKT",</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"mcc": 5311,</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"channel": "ecom",</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"device": "ios-17",</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"geo":</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a:t>
            </a:r>
            <a:endParaRPr sz="1000" dirty="0">
              <a:solidFill>
                <a:srgbClr val="188038"/>
              </a:solidFill>
              <a:latin typeface="Roboto"/>
              <a:ea typeface="Roboto"/>
              <a:cs typeface="Roboto"/>
              <a:sym typeface="Roboto"/>
            </a:endParaRPr>
          </a:p>
          <a:p>
            <a:pPr marL="457200" lvl="0" indent="457200" algn="l" rtl="0">
              <a:lnSpc>
                <a:spcPct val="115000"/>
              </a:lnSpc>
              <a:spcBef>
                <a:spcPts val="0"/>
              </a:spcBef>
              <a:spcAft>
                <a:spcPts val="0"/>
              </a:spcAft>
              <a:buNone/>
            </a:pPr>
            <a:r>
              <a:rPr lang="en" sz="1000" dirty="0">
                <a:solidFill>
                  <a:srgbClr val="188038"/>
                </a:solidFill>
                <a:latin typeface="Roboto"/>
                <a:ea typeface="Roboto"/>
                <a:cs typeface="Roboto"/>
                <a:sym typeface="Roboto"/>
              </a:rPr>
              <a:t>"lat": 37.77, "lon": -122.41, "country": "US" </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"ip": "55.62.181.125",</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"label": 0,</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  "features":</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a:t>
            </a:r>
            <a:endParaRPr sz="1000" dirty="0">
              <a:solidFill>
                <a:srgbClr val="188038"/>
              </a:solidFill>
              <a:latin typeface="Roboto"/>
              <a:ea typeface="Roboto"/>
              <a:cs typeface="Roboto"/>
              <a:sym typeface="Roboto"/>
            </a:endParaRPr>
          </a:p>
          <a:p>
            <a:pPr marL="457200" lvl="0" indent="457200" algn="l" rtl="0">
              <a:lnSpc>
                <a:spcPct val="115000"/>
              </a:lnSpc>
              <a:spcBef>
                <a:spcPts val="0"/>
              </a:spcBef>
              <a:spcAft>
                <a:spcPts val="0"/>
              </a:spcAft>
              <a:buNone/>
            </a:pPr>
            <a:r>
              <a:rPr lang="en" sz="1000" dirty="0">
                <a:solidFill>
                  <a:srgbClr val="188038"/>
                </a:solidFill>
                <a:latin typeface="Roboto"/>
                <a:ea typeface="Roboto"/>
                <a:cs typeface="Roboto"/>
                <a:sym typeface="Roboto"/>
              </a:rPr>
              <a:t>"home_country": "US"</a:t>
            </a:r>
            <a:endParaRPr sz="1000" dirty="0">
              <a:solidFill>
                <a:srgbClr val="188038"/>
              </a:solidFill>
              <a:latin typeface="Roboto"/>
              <a:ea typeface="Roboto"/>
              <a:cs typeface="Roboto"/>
              <a:sym typeface="Roboto"/>
            </a:endParaRPr>
          </a:p>
          <a:p>
            <a:pPr marL="457200" lvl="0" indent="0" algn="l" rtl="0">
              <a:lnSpc>
                <a:spcPct val="115000"/>
              </a:lnSpc>
              <a:spcBef>
                <a:spcPts val="0"/>
              </a:spcBef>
              <a:spcAft>
                <a:spcPts val="0"/>
              </a:spcAft>
              <a:buNone/>
            </a:pPr>
            <a:r>
              <a:rPr lang="en" sz="1000" dirty="0">
                <a:solidFill>
                  <a:srgbClr val="188038"/>
                </a:solidFill>
                <a:latin typeface="Roboto"/>
                <a:ea typeface="Roboto"/>
                <a:cs typeface="Roboto"/>
                <a:sym typeface="Roboto"/>
              </a:rPr>
              <a:t>}</a:t>
            </a:r>
            <a:endParaRPr sz="1000" dirty="0">
              <a:solidFill>
                <a:srgbClr val="188038"/>
              </a:solidFill>
              <a:latin typeface="Roboto"/>
              <a:ea typeface="Roboto"/>
              <a:cs typeface="Roboto"/>
              <a:sym typeface="Roboto"/>
            </a:endParaRPr>
          </a:p>
          <a:p>
            <a:pPr marL="0" lvl="0" indent="0" algn="l" rtl="0">
              <a:lnSpc>
                <a:spcPct val="115000"/>
              </a:lnSpc>
              <a:spcBef>
                <a:spcPts val="0"/>
              </a:spcBef>
              <a:spcAft>
                <a:spcPts val="0"/>
              </a:spcAft>
              <a:buNone/>
            </a:pPr>
            <a:r>
              <a:rPr lang="en" sz="1000" dirty="0" smtClean="0">
                <a:solidFill>
                  <a:srgbClr val="188038"/>
                </a:solidFill>
                <a:latin typeface="Roboto"/>
                <a:ea typeface="Roboto"/>
                <a:cs typeface="Roboto"/>
                <a:sym typeface="Roboto"/>
              </a:rPr>
              <a:t>}</a:t>
            </a:r>
          </a:p>
          <a:p>
            <a:pPr marL="0" lvl="0" indent="0" algn="l" rtl="0">
              <a:lnSpc>
                <a:spcPct val="115000"/>
              </a:lnSpc>
              <a:spcBef>
                <a:spcPts val="0"/>
              </a:spcBef>
              <a:spcAft>
                <a:spcPts val="0"/>
              </a:spcAft>
              <a:buNone/>
            </a:pPr>
            <a:r>
              <a:rPr lang="en" sz="1000" b="1" dirty="0" smtClean="0">
                <a:latin typeface="Roboto"/>
                <a:ea typeface="Roboto"/>
                <a:cs typeface="Roboto"/>
                <a:sym typeface="Roboto"/>
              </a:rPr>
              <a:t>Output: </a:t>
            </a:r>
            <a:r>
              <a:rPr lang="en" sz="1000" dirty="0" smtClean="0">
                <a:latin typeface="Roboto"/>
                <a:ea typeface="Roboto"/>
                <a:cs typeface="Roboto"/>
                <a:sym typeface="Roboto"/>
              </a:rPr>
              <a:t>Pushed </a:t>
            </a:r>
            <a:r>
              <a:rPr lang="en" sz="1000" dirty="0">
                <a:latin typeface="Roboto"/>
                <a:ea typeface="Roboto"/>
                <a:cs typeface="Roboto"/>
                <a:sym typeface="Roboto"/>
              </a:rPr>
              <a:t>to SQS for durability and decoupling.</a:t>
            </a:r>
            <a:endParaRPr sz="1000" dirty="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4"/>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3.2 SQS Queue</a:t>
            </a:r>
            <a:endParaRPr>
              <a:latin typeface="Roboto"/>
              <a:ea typeface="Roboto"/>
              <a:cs typeface="Roboto"/>
              <a:sym typeface="Roboto"/>
            </a:endParaRPr>
          </a:p>
        </p:txBody>
      </p:sp>
      <p:sp>
        <p:nvSpPr>
          <p:cNvPr id="192" name="Google Shape;192;p34"/>
          <p:cNvSpPr txBox="1">
            <a:spLocks noGrp="1"/>
          </p:cNvSpPr>
          <p:nvPr>
            <p:ph type="body" idx="1"/>
          </p:nvPr>
        </p:nvSpPr>
        <p:spPr>
          <a:xfrm>
            <a:off x="311700" y="1518900"/>
            <a:ext cx="4494900" cy="2105700"/>
          </a:xfrm>
          <a:prstGeom prst="rect">
            <a:avLst/>
          </a:prstGeom>
        </p:spPr>
        <p:txBody>
          <a:bodyPr spcFirstLastPara="1" wrap="square" lIns="91425" tIns="91425" rIns="91425" bIns="91425" anchor="t" anchorCtr="0">
            <a:normAutofit fontScale="85000" lnSpcReduction="10000"/>
          </a:bodyPr>
          <a:lstStyle/>
          <a:p>
            <a:pPr marL="0" lvl="0" indent="0" algn="l" rtl="0">
              <a:spcBef>
                <a:spcPts val="1400"/>
              </a:spcBef>
              <a:spcAft>
                <a:spcPts val="0"/>
              </a:spcAft>
              <a:buNone/>
            </a:pPr>
            <a:r>
              <a:rPr lang="en" sz="1200" b="1">
                <a:solidFill>
                  <a:srgbClr val="000000"/>
                </a:solidFill>
                <a:latin typeface="Roboto"/>
                <a:ea typeface="Roboto"/>
                <a:cs typeface="Roboto"/>
                <a:sym typeface="Roboto"/>
              </a:rPr>
              <a:t>Guarantees</a:t>
            </a:r>
            <a:endParaRPr sz="1200" b="1">
              <a:solidFill>
                <a:srgbClr val="000000"/>
              </a:solidFill>
              <a:latin typeface="Roboto"/>
              <a:ea typeface="Roboto"/>
              <a:cs typeface="Roboto"/>
              <a:sym typeface="Roboto"/>
            </a:endParaRPr>
          </a:p>
          <a:p>
            <a:pPr marL="457200" lvl="0" indent="-299085" algn="l" rtl="0">
              <a:spcBef>
                <a:spcPts val="1200"/>
              </a:spcBef>
              <a:spcAft>
                <a:spcPts val="0"/>
              </a:spcAft>
              <a:buClr>
                <a:srgbClr val="000000"/>
              </a:buClr>
              <a:buSzPct val="100000"/>
              <a:buFont typeface="Roboto"/>
              <a:buChar char="●"/>
            </a:pPr>
            <a:r>
              <a:rPr lang="en" sz="1200">
                <a:solidFill>
                  <a:srgbClr val="000000"/>
                </a:solidFill>
                <a:latin typeface="Roboto"/>
                <a:ea typeface="Roboto"/>
                <a:cs typeface="Roboto"/>
                <a:sym typeface="Roboto"/>
              </a:rPr>
              <a:t>At-least-once delivery</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299085" algn="l" rtl="0">
              <a:spcBef>
                <a:spcPts val="0"/>
              </a:spcBef>
              <a:spcAft>
                <a:spcPts val="0"/>
              </a:spcAft>
              <a:buClr>
                <a:srgbClr val="000000"/>
              </a:buClr>
              <a:buSzPct val="100000"/>
              <a:buFont typeface="Roboto"/>
              <a:buChar char="●"/>
            </a:pPr>
            <a:r>
              <a:rPr lang="en" sz="1200">
                <a:solidFill>
                  <a:srgbClr val="000000"/>
                </a:solidFill>
                <a:latin typeface="Roboto"/>
                <a:ea typeface="Roboto"/>
                <a:cs typeface="Roboto"/>
                <a:sym typeface="Roboto"/>
              </a:rPr>
              <a:t>Message visibility timeout</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299085" algn="l" rtl="0">
              <a:spcBef>
                <a:spcPts val="0"/>
              </a:spcBef>
              <a:spcAft>
                <a:spcPts val="0"/>
              </a:spcAft>
              <a:buClr>
                <a:srgbClr val="000000"/>
              </a:buClr>
              <a:buSzPct val="100000"/>
              <a:buFont typeface="Roboto"/>
              <a:buChar char="●"/>
            </a:pPr>
            <a:r>
              <a:rPr lang="en" sz="1200">
                <a:solidFill>
                  <a:srgbClr val="000000"/>
                </a:solidFill>
                <a:latin typeface="Roboto"/>
                <a:ea typeface="Roboto"/>
                <a:cs typeface="Roboto"/>
                <a:sym typeface="Roboto"/>
              </a:rPr>
              <a:t>Automatic retry (score-decide failure does not drop transactions)</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293211" algn="l" rtl="0">
              <a:spcBef>
                <a:spcPts val="0"/>
              </a:spcBef>
              <a:spcAft>
                <a:spcPts val="0"/>
              </a:spcAft>
              <a:buClr>
                <a:srgbClr val="000000"/>
              </a:buClr>
              <a:buSzPct val="91666"/>
              <a:buFont typeface="Roboto"/>
              <a:buChar char="●"/>
            </a:pPr>
            <a:r>
              <a:rPr lang="en" sz="1200">
                <a:solidFill>
                  <a:srgbClr val="000000"/>
                </a:solidFill>
                <a:latin typeface="Roboto"/>
                <a:ea typeface="Roboto"/>
                <a:cs typeface="Roboto"/>
                <a:sym typeface="Roboto"/>
              </a:rPr>
              <a:t>Infinite scaling under AWS-managed queue infrastructure</a:t>
            </a:r>
            <a:r>
              <a:rPr lang="en" sz="1100">
                <a:solidFill>
                  <a:srgbClr val="000000"/>
                </a:solidFill>
                <a:latin typeface="Roboto"/>
                <a:ea typeface="Roboto"/>
                <a:cs typeface="Roboto"/>
                <a:sym typeface="Roboto"/>
              </a:rPr>
              <a:t/>
            </a:r>
            <a:br>
              <a:rPr lang="en" sz="1100">
                <a:solidFill>
                  <a:srgbClr val="000000"/>
                </a:solidFill>
                <a:latin typeface="Roboto"/>
                <a:ea typeface="Roboto"/>
                <a:cs typeface="Roboto"/>
                <a:sym typeface="Roboto"/>
              </a:rPr>
            </a:br>
            <a:endParaRPr>
              <a:latin typeface="Roboto"/>
              <a:ea typeface="Roboto"/>
              <a:cs typeface="Roboto"/>
              <a:sym typeface="Roboto"/>
            </a:endParaRPr>
          </a:p>
        </p:txBody>
      </p:sp>
      <p:sp>
        <p:nvSpPr>
          <p:cNvPr id="193" name="Google Shape;193;p34"/>
          <p:cNvSpPr txBox="1">
            <a:spLocks noGrp="1"/>
          </p:cNvSpPr>
          <p:nvPr>
            <p:ph type="subTitle" idx="2"/>
          </p:nvPr>
        </p:nvSpPr>
        <p:spPr>
          <a:xfrm>
            <a:off x="311700" y="767700"/>
            <a:ext cx="8520600" cy="642600"/>
          </a:xfrm>
          <a:prstGeom prst="rect">
            <a:avLst/>
          </a:prstGeom>
        </p:spPr>
        <p:txBody>
          <a:bodyPr spcFirstLastPara="1" wrap="square" lIns="91425" tIns="0" rIns="91425" bIns="91425" anchor="t" anchorCtr="0">
            <a:noAutofit/>
          </a:bodyPr>
          <a:lstStyle/>
          <a:p>
            <a:pPr marL="0" lvl="0" indent="0" algn="l" rtl="0">
              <a:lnSpc>
                <a:spcPct val="115000"/>
              </a:lnSpc>
              <a:spcBef>
                <a:spcPts val="1400"/>
              </a:spcBef>
              <a:spcAft>
                <a:spcPts val="0"/>
              </a:spcAft>
              <a:buNone/>
            </a:pPr>
            <a:r>
              <a:rPr lang="en" sz="1400" b="1">
                <a:solidFill>
                  <a:srgbClr val="000000"/>
                </a:solidFill>
                <a:latin typeface="Roboto"/>
                <a:ea typeface="Roboto"/>
                <a:cs typeface="Roboto"/>
                <a:sym typeface="Roboto"/>
              </a:rPr>
              <a:t>Purpose</a:t>
            </a:r>
            <a:endParaRPr sz="1400" b="1">
              <a:solidFill>
                <a:srgbClr val="000000"/>
              </a:solidFill>
              <a:latin typeface="Roboto"/>
              <a:ea typeface="Roboto"/>
              <a:cs typeface="Roboto"/>
              <a:sym typeface="Roboto"/>
            </a:endParaRPr>
          </a:p>
          <a:p>
            <a:pPr marL="0" lvl="0" indent="0" algn="l" rtl="0">
              <a:lnSpc>
                <a:spcPct val="115000"/>
              </a:lnSpc>
              <a:spcBef>
                <a:spcPts val="1200"/>
              </a:spcBef>
              <a:spcAft>
                <a:spcPts val="1200"/>
              </a:spcAft>
              <a:buNone/>
            </a:pPr>
            <a:r>
              <a:rPr lang="en" sz="1200">
                <a:solidFill>
                  <a:srgbClr val="000000"/>
                </a:solidFill>
                <a:latin typeface="Roboto"/>
                <a:ea typeface="Roboto"/>
                <a:cs typeface="Roboto"/>
                <a:sym typeface="Roboto"/>
              </a:rPr>
              <a:t>Decouples ingestion from scoring to support reliability under bursts.</a:t>
            </a:r>
            <a:endParaRPr sz="1200">
              <a:latin typeface="Roboto"/>
              <a:ea typeface="Roboto"/>
              <a:cs typeface="Roboto"/>
              <a:sym typeface="Roboto"/>
            </a:endParaRPr>
          </a:p>
        </p:txBody>
      </p:sp>
      <p:pic>
        <p:nvPicPr>
          <p:cNvPr id="194" name="Google Shape;194;p34"/>
          <p:cNvPicPr preferRelativeResize="0"/>
          <p:nvPr/>
        </p:nvPicPr>
        <p:blipFill>
          <a:blip r:embed="rId3">
            <a:alphaModFix/>
          </a:blip>
          <a:stretch>
            <a:fillRect/>
          </a:stretch>
        </p:blipFill>
        <p:spPr>
          <a:xfrm>
            <a:off x="5024800" y="857550"/>
            <a:ext cx="4015513" cy="3428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3.3 score-decide Lambda — Real-Time Fraud Scoring Engine</a:t>
            </a:r>
            <a:endParaRPr>
              <a:latin typeface="Roboto"/>
              <a:ea typeface="Roboto"/>
              <a:cs typeface="Roboto"/>
              <a:sym typeface="Roboto"/>
            </a:endParaRPr>
          </a:p>
        </p:txBody>
      </p:sp>
      <p:sp>
        <p:nvSpPr>
          <p:cNvPr id="200" name="Google Shape;200;p35"/>
          <p:cNvSpPr txBox="1">
            <a:spLocks noGrp="1"/>
          </p:cNvSpPr>
          <p:nvPr>
            <p:ph type="body" idx="1"/>
          </p:nvPr>
        </p:nvSpPr>
        <p:spPr>
          <a:xfrm>
            <a:off x="303863" y="772875"/>
            <a:ext cx="4936500" cy="25755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b="1" dirty="0">
                <a:solidFill>
                  <a:srgbClr val="000000"/>
                </a:solidFill>
                <a:latin typeface="Roboto"/>
                <a:ea typeface="Roboto"/>
                <a:cs typeface="Roboto"/>
                <a:sym typeface="Roboto"/>
              </a:rPr>
              <a:t>✔ Rule-Based </a:t>
            </a:r>
            <a:r>
              <a:rPr lang="en" sz="1200" b="1" dirty="0" smtClean="0">
                <a:solidFill>
                  <a:srgbClr val="000000"/>
                </a:solidFill>
                <a:latin typeface="Roboto"/>
                <a:ea typeface="Roboto"/>
                <a:cs typeface="Roboto"/>
                <a:sym typeface="Roboto"/>
              </a:rPr>
              <a:t>Signals</a:t>
            </a:r>
            <a:endParaRPr sz="1200" b="1" dirty="0">
              <a:solidFill>
                <a:srgbClr val="000000"/>
              </a:solidFill>
              <a:latin typeface="Roboto"/>
              <a:ea typeface="Roboto"/>
              <a:cs typeface="Roboto"/>
              <a:sym typeface="Roboto"/>
            </a:endParaRPr>
          </a:p>
        </p:txBody>
      </p:sp>
      <p:sp>
        <p:nvSpPr>
          <p:cNvPr id="201" name="Google Shape;201;p35"/>
          <p:cNvSpPr txBox="1">
            <a:spLocks noGrp="1"/>
          </p:cNvSpPr>
          <p:nvPr>
            <p:ph type="subTitle" idx="2"/>
          </p:nvPr>
        </p:nvSpPr>
        <p:spPr>
          <a:xfrm>
            <a:off x="311700" y="584150"/>
            <a:ext cx="8520600" cy="242400"/>
          </a:xfrm>
          <a:prstGeom prst="rect">
            <a:avLst/>
          </a:prstGeom>
        </p:spPr>
        <p:txBody>
          <a:bodyPr spcFirstLastPara="1" wrap="square" lIns="91425" tIns="0" rIns="91425" bIns="91425" anchor="t" anchorCtr="0">
            <a:noAutofit/>
          </a:bodyPr>
          <a:lstStyle/>
          <a:p>
            <a:pPr marL="0" lvl="0" indent="0" algn="l" rtl="0">
              <a:lnSpc>
                <a:spcPct val="115000"/>
              </a:lnSpc>
              <a:spcBef>
                <a:spcPts val="1400"/>
              </a:spcBef>
              <a:spcAft>
                <a:spcPts val="0"/>
              </a:spcAft>
              <a:buNone/>
            </a:pPr>
            <a:r>
              <a:rPr lang="en" sz="1200" b="1" dirty="0">
                <a:solidFill>
                  <a:srgbClr val="000000"/>
                </a:solidFill>
                <a:latin typeface="Roboto"/>
                <a:ea typeface="Roboto"/>
                <a:cs typeface="Roboto"/>
                <a:sym typeface="Roboto"/>
              </a:rPr>
              <a:t>3.3.1 Risk Scoring </a:t>
            </a:r>
            <a:r>
              <a:rPr lang="en" sz="1200" b="1" dirty="0" smtClean="0">
                <a:solidFill>
                  <a:srgbClr val="000000"/>
                </a:solidFill>
                <a:latin typeface="Roboto"/>
                <a:ea typeface="Roboto"/>
                <a:cs typeface="Roboto"/>
                <a:sym typeface="Roboto"/>
              </a:rPr>
              <a:t>Logic</a:t>
            </a:r>
            <a:endParaRPr sz="1100" dirty="0">
              <a:solidFill>
                <a:srgbClr val="000000"/>
              </a:solidFill>
              <a:latin typeface="Roboto"/>
              <a:ea typeface="Roboto"/>
              <a:cs typeface="Roboto"/>
              <a:sym typeface="Roboto"/>
            </a:endParaRPr>
          </a:p>
        </p:txBody>
      </p:sp>
      <p:graphicFrame>
        <p:nvGraphicFramePr>
          <p:cNvPr id="202" name="Google Shape;202;p35"/>
          <p:cNvGraphicFramePr/>
          <p:nvPr>
            <p:extLst>
              <p:ext uri="{D42A27DB-BD31-4B8C-83A1-F6EECF244321}">
                <p14:modId xmlns:p14="http://schemas.microsoft.com/office/powerpoint/2010/main" val="3222176177"/>
              </p:ext>
            </p:extLst>
          </p:nvPr>
        </p:nvGraphicFramePr>
        <p:xfrm>
          <a:off x="311700" y="1219199"/>
          <a:ext cx="4211505" cy="2070966"/>
        </p:xfrm>
        <a:graphic>
          <a:graphicData uri="http://schemas.openxmlformats.org/drawingml/2006/table">
            <a:tbl>
              <a:tblPr>
                <a:noFill/>
                <a:tableStyleId>{E56237A7-AE8C-4A5A-A484-94130E5B2B2B}</a:tableStyleId>
              </a:tblPr>
              <a:tblGrid>
                <a:gridCol w="1781795"/>
                <a:gridCol w="604085"/>
                <a:gridCol w="1825625"/>
              </a:tblGrid>
              <a:tr h="297379">
                <a:tc>
                  <a:txBody>
                    <a:bodyPr/>
                    <a:lstStyle/>
                    <a:p>
                      <a:pPr marL="0" lvl="0" indent="0" algn="ctr" rtl="0">
                        <a:lnSpc>
                          <a:spcPct val="115000"/>
                        </a:lnSpc>
                        <a:spcBef>
                          <a:spcPts val="0"/>
                        </a:spcBef>
                        <a:spcAft>
                          <a:spcPts val="0"/>
                        </a:spcAft>
                        <a:buNone/>
                      </a:pPr>
                      <a:r>
                        <a:rPr lang="en" sz="1100" b="1" dirty="0"/>
                        <a:t>Condition</a:t>
                      </a:r>
                      <a:endParaRPr dirty="0"/>
                    </a:p>
                  </a:txBody>
                  <a:tcPr marL="91425" marR="91425" marT="91425" marB="91425">
                    <a:solidFill>
                      <a:srgbClr val="D9EAD3"/>
                    </a:solidFill>
                  </a:tcPr>
                </a:tc>
                <a:tc>
                  <a:txBody>
                    <a:bodyPr/>
                    <a:lstStyle/>
                    <a:p>
                      <a:pPr marL="0" lvl="0" indent="0" algn="ctr" rtl="0">
                        <a:lnSpc>
                          <a:spcPct val="115000"/>
                        </a:lnSpc>
                        <a:spcBef>
                          <a:spcPts val="0"/>
                        </a:spcBef>
                        <a:spcAft>
                          <a:spcPts val="0"/>
                        </a:spcAft>
                        <a:buNone/>
                      </a:pPr>
                      <a:r>
                        <a:rPr lang="en" sz="1100" b="1"/>
                        <a:t>Risk</a:t>
                      </a:r>
                      <a:endParaRPr/>
                    </a:p>
                  </a:txBody>
                  <a:tcPr marL="91425" marR="91425" marT="91425" marB="91425">
                    <a:solidFill>
                      <a:srgbClr val="D9EAD3"/>
                    </a:solidFill>
                  </a:tcPr>
                </a:tc>
                <a:tc>
                  <a:txBody>
                    <a:bodyPr/>
                    <a:lstStyle/>
                    <a:p>
                      <a:pPr marL="0" lvl="0" indent="0" algn="ctr" rtl="0">
                        <a:lnSpc>
                          <a:spcPct val="115000"/>
                        </a:lnSpc>
                        <a:spcBef>
                          <a:spcPts val="0"/>
                        </a:spcBef>
                        <a:spcAft>
                          <a:spcPts val="0"/>
                        </a:spcAft>
                        <a:buNone/>
                      </a:pPr>
                      <a:r>
                        <a:rPr lang="en" sz="1100" b="1"/>
                        <a:t>Reason Code</a:t>
                      </a:r>
                      <a:endParaRPr/>
                    </a:p>
                  </a:txBody>
                  <a:tcPr marL="91425" marR="91425" marT="91425" marB="91425">
                    <a:solidFill>
                      <a:srgbClr val="D9EAD3"/>
                    </a:solidFill>
                  </a:tcPr>
                </a:tc>
              </a:tr>
              <a:tr h="297379">
                <a:tc>
                  <a:txBody>
                    <a:bodyPr/>
                    <a:lstStyle/>
                    <a:p>
                      <a:pPr marL="0" lvl="0" indent="0" algn="l" rtl="0">
                        <a:lnSpc>
                          <a:spcPct val="115000"/>
                        </a:lnSpc>
                        <a:spcBef>
                          <a:spcPts val="0"/>
                        </a:spcBef>
                        <a:spcAft>
                          <a:spcPts val="0"/>
                        </a:spcAft>
                        <a:buNone/>
                      </a:pPr>
                      <a:r>
                        <a:rPr lang="en" sz="1100"/>
                        <a:t>amount ≥ 200</a:t>
                      </a:r>
                      <a:endParaRPr/>
                    </a:p>
                  </a:txBody>
                  <a:tcPr marL="91425" marR="91425" marT="91425" marB="91425"/>
                </a:tc>
                <a:tc>
                  <a:txBody>
                    <a:bodyPr/>
                    <a:lstStyle/>
                    <a:p>
                      <a:pPr marL="0" lvl="0" indent="0" algn="l" rtl="0">
                        <a:lnSpc>
                          <a:spcPct val="115000"/>
                        </a:lnSpc>
                        <a:spcBef>
                          <a:spcPts val="0"/>
                        </a:spcBef>
                        <a:spcAft>
                          <a:spcPts val="0"/>
                        </a:spcAft>
                        <a:buNone/>
                      </a:pPr>
                      <a:r>
                        <a:rPr lang="en" sz="1100"/>
                        <a:t>+3</a:t>
                      </a:r>
                      <a:endParaRPr/>
                    </a:p>
                  </a:txBody>
                  <a:tcPr marL="91425" marR="91425" marT="91425" marB="91425"/>
                </a:tc>
                <a:tc>
                  <a:txBody>
                    <a:bodyPr/>
                    <a:lstStyle/>
                    <a:p>
                      <a:pPr marL="0" lvl="0" indent="0" algn="l" rtl="0">
                        <a:lnSpc>
                          <a:spcPct val="115000"/>
                        </a:lnSpc>
                        <a:spcBef>
                          <a:spcPts val="0"/>
                        </a:spcBef>
                        <a:spcAft>
                          <a:spcPts val="0"/>
                        </a:spcAft>
                        <a:buNone/>
                      </a:pPr>
                      <a:r>
                        <a:rPr lang="en" sz="1100"/>
                        <a:t>AMOUNT_GE_200</a:t>
                      </a:r>
                      <a:endParaRPr/>
                    </a:p>
                  </a:txBody>
                  <a:tcPr marL="91425" marR="91425" marT="91425" marB="91425"/>
                </a:tc>
              </a:tr>
              <a:tr h="297379">
                <a:tc>
                  <a:txBody>
                    <a:bodyPr/>
                    <a:lstStyle/>
                    <a:p>
                      <a:pPr marL="0" lvl="0" indent="0" algn="l" rtl="0">
                        <a:lnSpc>
                          <a:spcPct val="115000"/>
                        </a:lnSpc>
                        <a:spcBef>
                          <a:spcPts val="0"/>
                        </a:spcBef>
                        <a:spcAft>
                          <a:spcPts val="0"/>
                        </a:spcAft>
                        <a:buNone/>
                      </a:pPr>
                      <a:r>
                        <a:rPr lang="en" sz="1100"/>
                        <a:t>amount ≥ 100</a:t>
                      </a:r>
                      <a:endParaRPr/>
                    </a:p>
                  </a:txBody>
                  <a:tcPr marL="91425" marR="91425" marT="91425" marB="91425"/>
                </a:tc>
                <a:tc>
                  <a:txBody>
                    <a:bodyPr/>
                    <a:lstStyle/>
                    <a:p>
                      <a:pPr marL="0" lvl="0" indent="0" algn="l" rtl="0">
                        <a:lnSpc>
                          <a:spcPct val="115000"/>
                        </a:lnSpc>
                        <a:spcBef>
                          <a:spcPts val="0"/>
                        </a:spcBef>
                        <a:spcAft>
                          <a:spcPts val="0"/>
                        </a:spcAft>
                        <a:buNone/>
                      </a:pPr>
                      <a:r>
                        <a:rPr lang="en" sz="1100"/>
                        <a:t>+2</a:t>
                      </a:r>
                      <a:endParaRPr/>
                    </a:p>
                  </a:txBody>
                  <a:tcPr marL="91425" marR="91425" marT="91425" marB="91425"/>
                </a:tc>
                <a:tc>
                  <a:txBody>
                    <a:bodyPr/>
                    <a:lstStyle/>
                    <a:p>
                      <a:pPr marL="0" lvl="0" indent="0" algn="l" rtl="0">
                        <a:lnSpc>
                          <a:spcPct val="115000"/>
                        </a:lnSpc>
                        <a:spcBef>
                          <a:spcPts val="0"/>
                        </a:spcBef>
                        <a:spcAft>
                          <a:spcPts val="0"/>
                        </a:spcAft>
                        <a:buNone/>
                      </a:pPr>
                      <a:r>
                        <a:rPr lang="en" sz="1100"/>
                        <a:t>AMOUNT_GE_100</a:t>
                      </a:r>
                      <a:endParaRPr/>
                    </a:p>
                  </a:txBody>
                  <a:tcPr marL="91425" marR="91425" marT="91425" marB="91425"/>
                </a:tc>
              </a:tr>
              <a:tr h="297379">
                <a:tc>
                  <a:txBody>
                    <a:bodyPr/>
                    <a:lstStyle/>
                    <a:p>
                      <a:pPr marL="0" lvl="0" indent="0" algn="l" rtl="0">
                        <a:lnSpc>
                          <a:spcPct val="115000"/>
                        </a:lnSpc>
                        <a:spcBef>
                          <a:spcPts val="0"/>
                        </a:spcBef>
                        <a:spcAft>
                          <a:spcPts val="0"/>
                        </a:spcAft>
                        <a:buNone/>
                      </a:pPr>
                      <a:r>
                        <a:rPr lang="en" sz="1100"/>
                        <a:t>amount ≥ 60</a:t>
                      </a:r>
                      <a:endParaRPr/>
                    </a:p>
                  </a:txBody>
                  <a:tcPr marL="91425" marR="91425" marT="91425" marB="91425"/>
                </a:tc>
                <a:tc>
                  <a:txBody>
                    <a:bodyPr/>
                    <a:lstStyle/>
                    <a:p>
                      <a:pPr marL="0" lvl="0" indent="0" algn="l" rtl="0">
                        <a:lnSpc>
                          <a:spcPct val="115000"/>
                        </a:lnSpc>
                        <a:spcBef>
                          <a:spcPts val="0"/>
                        </a:spcBef>
                        <a:spcAft>
                          <a:spcPts val="0"/>
                        </a:spcAft>
                        <a:buNone/>
                      </a:pPr>
                      <a:r>
                        <a:rPr lang="en" sz="1100"/>
                        <a:t>+1</a:t>
                      </a:r>
                      <a:endParaRPr/>
                    </a:p>
                  </a:txBody>
                  <a:tcPr marL="91425" marR="91425" marT="91425" marB="91425"/>
                </a:tc>
                <a:tc>
                  <a:txBody>
                    <a:bodyPr/>
                    <a:lstStyle/>
                    <a:p>
                      <a:pPr marL="0" lvl="0" indent="0" algn="l" rtl="0">
                        <a:lnSpc>
                          <a:spcPct val="115000"/>
                        </a:lnSpc>
                        <a:spcBef>
                          <a:spcPts val="0"/>
                        </a:spcBef>
                        <a:spcAft>
                          <a:spcPts val="0"/>
                        </a:spcAft>
                        <a:buNone/>
                      </a:pPr>
                      <a:r>
                        <a:rPr lang="en" sz="1100"/>
                        <a:t>AMOUNT_GE_60</a:t>
                      </a:r>
                      <a:endParaRPr/>
                    </a:p>
                  </a:txBody>
                  <a:tcPr marL="91425" marR="91425" marT="91425" marB="91425"/>
                </a:tc>
              </a:tr>
              <a:tr h="450001">
                <a:tc>
                  <a:txBody>
                    <a:bodyPr/>
                    <a:lstStyle/>
                    <a:p>
                      <a:pPr marL="0" lvl="0" indent="0" algn="l" rtl="0">
                        <a:lnSpc>
                          <a:spcPct val="115000"/>
                        </a:lnSpc>
                        <a:spcBef>
                          <a:spcPts val="0"/>
                        </a:spcBef>
                        <a:spcAft>
                          <a:spcPts val="0"/>
                        </a:spcAft>
                        <a:buNone/>
                      </a:pPr>
                      <a:r>
                        <a:rPr lang="en" sz="1100" dirty="0"/>
                        <a:t>geo.country ≠ home_country</a:t>
                      </a:r>
                      <a:endParaRPr dirty="0"/>
                    </a:p>
                  </a:txBody>
                  <a:tcPr marL="91425" marR="91425" marT="91425" marB="91425"/>
                </a:tc>
                <a:tc>
                  <a:txBody>
                    <a:bodyPr/>
                    <a:lstStyle/>
                    <a:p>
                      <a:pPr marL="0" lvl="0" indent="0" algn="l" rtl="0">
                        <a:lnSpc>
                          <a:spcPct val="115000"/>
                        </a:lnSpc>
                        <a:spcBef>
                          <a:spcPts val="0"/>
                        </a:spcBef>
                        <a:spcAft>
                          <a:spcPts val="0"/>
                        </a:spcAft>
                        <a:buNone/>
                      </a:pPr>
                      <a:r>
                        <a:rPr lang="en" sz="1100"/>
                        <a:t>+1</a:t>
                      </a:r>
                      <a:endParaRPr/>
                    </a:p>
                  </a:txBody>
                  <a:tcPr marL="91425" marR="91425" marT="91425" marB="91425"/>
                </a:tc>
                <a:tc>
                  <a:txBody>
                    <a:bodyPr/>
                    <a:lstStyle/>
                    <a:p>
                      <a:pPr marL="0" lvl="0" indent="0" algn="l" rtl="0">
                        <a:lnSpc>
                          <a:spcPct val="115000"/>
                        </a:lnSpc>
                        <a:spcBef>
                          <a:spcPts val="0"/>
                        </a:spcBef>
                        <a:spcAft>
                          <a:spcPts val="0"/>
                        </a:spcAft>
                        <a:buNone/>
                      </a:pPr>
                      <a:r>
                        <a:rPr lang="en" sz="1100" dirty="0"/>
                        <a:t>COUNTRY_MISMATCH</a:t>
                      </a:r>
                      <a:endParaRPr dirty="0"/>
                    </a:p>
                  </a:txBody>
                  <a:tcPr marL="91425" marR="91425" marT="91425" marB="91425"/>
                </a:tc>
              </a:tr>
            </a:tbl>
          </a:graphicData>
        </a:graphic>
      </p:graphicFrame>
      <p:sp>
        <p:nvSpPr>
          <p:cNvPr id="203" name="Google Shape;203;p35"/>
          <p:cNvSpPr txBox="1"/>
          <p:nvPr/>
        </p:nvSpPr>
        <p:spPr>
          <a:xfrm>
            <a:off x="6033191" y="705350"/>
            <a:ext cx="3000000" cy="72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dirty="0">
                <a:latin typeface="Roboto"/>
                <a:ea typeface="Roboto"/>
                <a:cs typeface="Roboto"/>
                <a:sym typeface="Roboto"/>
              </a:rPr>
              <a:t>✔ Dataset-driven Signal</a:t>
            </a:r>
            <a:endParaRPr sz="1200" b="1" dirty="0">
              <a:latin typeface="Roboto"/>
              <a:ea typeface="Roboto"/>
              <a:cs typeface="Roboto"/>
              <a:sym typeface="Roboto"/>
            </a:endParaRPr>
          </a:p>
          <a:p>
            <a:pPr marL="0" lvl="0" indent="0" algn="l" rtl="0">
              <a:lnSpc>
                <a:spcPct val="115000"/>
              </a:lnSpc>
              <a:spcBef>
                <a:spcPts val="1200"/>
              </a:spcBef>
              <a:spcAft>
                <a:spcPts val="200"/>
              </a:spcAft>
              <a:buNone/>
            </a:pPr>
            <a:endParaRPr sz="1100" b="1" dirty="0"/>
          </a:p>
        </p:txBody>
      </p:sp>
      <p:graphicFrame>
        <p:nvGraphicFramePr>
          <p:cNvPr id="204" name="Google Shape;204;p35"/>
          <p:cNvGraphicFramePr/>
          <p:nvPr/>
        </p:nvGraphicFramePr>
        <p:xfrm>
          <a:off x="5862075" y="1348625"/>
          <a:ext cx="2489675" cy="870737"/>
        </p:xfrm>
        <a:graphic>
          <a:graphicData uri="http://schemas.openxmlformats.org/drawingml/2006/table">
            <a:tbl>
              <a:tblPr>
                <a:noFill/>
                <a:tableStyleId>{E56237A7-AE8C-4A5A-A484-94130E5B2B2B}</a:tableStyleId>
              </a:tblPr>
              <a:tblGrid>
                <a:gridCol w="1803250"/>
                <a:gridCol w="686425"/>
              </a:tblGrid>
              <a:tr h="303200">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Source</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l" rtl="0">
                        <a:lnSpc>
                          <a:spcPct val="115000"/>
                        </a:lnSpc>
                        <a:spcBef>
                          <a:spcPts val="0"/>
                        </a:spcBef>
                        <a:spcAft>
                          <a:spcPts val="0"/>
                        </a:spcAft>
                        <a:buNone/>
                      </a:pPr>
                      <a:r>
                        <a:rPr lang="en" sz="1200" b="1">
                          <a:latin typeface="Roboto"/>
                          <a:ea typeface="Roboto"/>
                          <a:cs typeface="Roboto"/>
                          <a:sym typeface="Roboto"/>
                        </a:rPr>
                        <a:t>Risk</a:t>
                      </a:r>
                      <a:endParaRPr sz="1200">
                        <a:latin typeface="Roboto"/>
                        <a:ea typeface="Roboto"/>
                        <a:cs typeface="Roboto"/>
                        <a:sym typeface="Roboto"/>
                      </a:endParaRPr>
                    </a:p>
                  </a:txBody>
                  <a:tcPr marL="91425" marR="91425" marT="91425" marB="91425">
                    <a:solidFill>
                      <a:srgbClr val="D9EAD3"/>
                    </a:solidFill>
                  </a:tcPr>
                </a:tc>
              </a:tr>
              <a:tr h="4775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Synthetic label = 1</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+1</a:t>
                      </a:r>
                      <a:endParaRPr sz="1200">
                        <a:latin typeface="Roboto"/>
                        <a:ea typeface="Roboto"/>
                        <a:cs typeface="Roboto"/>
                        <a:sym typeface="Roboto"/>
                      </a:endParaRPr>
                    </a:p>
                  </a:txBody>
                  <a:tcPr marL="91425" marR="91425" marT="91425" marB="91425"/>
                </a:tc>
              </a:tr>
            </a:tbl>
          </a:graphicData>
        </a:graphic>
      </p:graphicFrame>
      <p:sp>
        <p:nvSpPr>
          <p:cNvPr id="205" name="Google Shape;205;p35"/>
          <p:cNvSpPr txBox="1"/>
          <p:nvPr/>
        </p:nvSpPr>
        <p:spPr>
          <a:xfrm>
            <a:off x="311700" y="3090792"/>
            <a:ext cx="3000000" cy="72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200" b="1"/>
              <a:t>✔ Decision Thresholds</a:t>
            </a:r>
            <a:endParaRPr sz="1200" b="1"/>
          </a:p>
          <a:p>
            <a:pPr marL="0" lvl="0" indent="0" algn="l" rtl="0">
              <a:lnSpc>
                <a:spcPct val="115000"/>
              </a:lnSpc>
              <a:spcBef>
                <a:spcPts val="1200"/>
              </a:spcBef>
              <a:spcAft>
                <a:spcPts val="200"/>
              </a:spcAft>
              <a:buNone/>
            </a:pPr>
            <a:endParaRPr sz="1100" b="1"/>
          </a:p>
        </p:txBody>
      </p:sp>
      <p:graphicFrame>
        <p:nvGraphicFramePr>
          <p:cNvPr id="206" name="Google Shape;206;p35"/>
          <p:cNvGraphicFramePr/>
          <p:nvPr>
            <p:extLst>
              <p:ext uri="{D42A27DB-BD31-4B8C-83A1-F6EECF244321}">
                <p14:modId xmlns:p14="http://schemas.microsoft.com/office/powerpoint/2010/main" val="420823883"/>
              </p:ext>
            </p:extLst>
          </p:nvPr>
        </p:nvGraphicFramePr>
        <p:xfrm>
          <a:off x="303864" y="3537100"/>
          <a:ext cx="5875263" cy="1514736"/>
        </p:xfrm>
        <a:graphic>
          <a:graphicData uri="http://schemas.openxmlformats.org/drawingml/2006/table">
            <a:tbl>
              <a:tblPr>
                <a:noFill/>
                <a:tableStyleId>{E56237A7-AE8C-4A5A-A484-94130E5B2B2B}</a:tableStyleId>
              </a:tblPr>
              <a:tblGrid>
                <a:gridCol w="1958421"/>
                <a:gridCol w="1958421"/>
                <a:gridCol w="1958421"/>
              </a:tblGrid>
              <a:tr h="358950">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Risk Score</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Decision</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Meaning</a:t>
                      </a:r>
                      <a:endParaRPr sz="1200">
                        <a:latin typeface="Roboto"/>
                        <a:ea typeface="Roboto"/>
                        <a:cs typeface="Roboto"/>
                        <a:sym typeface="Roboto"/>
                      </a:endParaRPr>
                    </a:p>
                  </a:txBody>
                  <a:tcPr marL="91425" marR="91425" marT="91425" marB="91425">
                    <a:solidFill>
                      <a:srgbClr val="D9EAD3"/>
                    </a:solidFill>
                  </a:tcPr>
                </a:tc>
              </a:tr>
              <a:tr h="358950">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0</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ALLOW</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No anomaly</a:t>
                      </a:r>
                      <a:endParaRPr sz="1200">
                        <a:latin typeface="Roboto"/>
                        <a:ea typeface="Roboto"/>
                        <a:cs typeface="Roboto"/>
                        <a:sym typeface="Roboto"/>
                      </a:endParaRPr>
                    </a:p>
                  </a:txBody>
                  <a:tcPr marL="91425" marR="91425" marT="91425" marB="91425"/>
                </a:tc>
              </a:tr>
              <a:tr h="358950">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1–2</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FLAG</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Medium suspicion</a:t>
                      </a:r>
                      <a:endParaRPr sz="1200">
                        <a:latin typeface="Roboto"/>
                        <a:ea typeface="Roboto"/>
                        <a:cs typeface="Roboto"/>
                        <a:sym typeface="Roboto"/>
                      </a:endParaRPr>
                    </a:p>
                  </a:txBody>
                  <a:tcPr marL="91425" marR="91425" marT="91425" marB="91425"/>
                </a:tc>
              </a:tr>
              <a:tr h="358950">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 3</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HOLD</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dirty="0">
                          <a:latin typeface="Roboto"/>
                          <a:ea typeface="Roboto"/>
                          <a:cs typeface="Roboto"/>
                          <a:sym typeface="Roboto"/>
                        </a:rPr>
                        <a:t>Strong evidence of fraud</a:t>
                      </a:r>
                      <a:endParaRPr sz="1200" dirty="0">
                        <a:latin typeface="Roboto"/>
                        <a:ea typeface="Roboto"/>
                        <a:cs typeface="Roboto"/>
                        <a:sym typeface="Roboto"/>
                      </a:endParaRPr>
                    </a:p>
                  </a:txBody>
                  <a:tcPr marL="91425" marR="91425" marT="91425" marB="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6"/>
          <p:cNvSpPr txBox="1">
            <a:spLocks noGrp="1"/>
          </p:cNvSpPr>
          <p:nvPr>
            <p:ph type="body" idx="1"/>
          </p:nvPr>
        </p:nvSpPr>
        <p:spPr>
          <a:xfrm>
            <a:off x="118525" y="75150"/>
            <a:ext cx="8520600" cy="47865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200" b="1">
                <a:solidFill>
                  <a:srgbClr val="000000"/>
                </a:solidFill>
                <a:latin typeface="Roboto"/>
                <a:ea typeface="Roboto"/>
                <a:cs typeface="Roboto"/>
                <a:sym typeface="Roboto"/>
              </a:rPr>
              <a:t>3.3.2 Enrichment &amp; Normalization</a:t>
            </a:r>
            <a:endParaRPr sz="1200" b="1">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a:solidFill>
                  <a:srgbClr val="000000"/>
                </a:solidFill>
                <a:latin typeface="Roboto"/>
                <a:ea typeface="Roboto"/>
                <a:cs typeface="Roboto"/>
                <a:sym typeface="Roboto"/>
              </a:rPr>
              <a:t>DynamoDB requires numeric types to be </a:t>
            </a:r>
            <a:r>
              <a:rPr lang="en" sz="1200" b="1">
                <a:solidFill>
                  <a:srgbClr val="000000"/>
                </a:solidFill>
                <a:latin typeface="Roboto"/>
                <a:ea typeface="Roboto"/>
                <a:cs typeface="Roboto"/>
                <a:sym typeface="Roboto"/>
              </a:rPr>
              <a:t>Decimal</a:t>
            </a:r>
            <a:r>
              <a:rPr lang="en" sz="1200">
                <a:solidFill>
                  <a:srgbClr val="000000"/>
                </a:solidFill>
                <a:latin typeface="Roboto"/>
                <a:ea typeface="Roboto"/>
                <a:cs typeface="Roboto"/>
                <a:sym typeface="Roboto"/>
              </a:rPr>
              <a:t> → we built recursive converters.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Geo and features are embedded in nested maps for structured indexing.</a:t>
            </a:r>
            <a:endParaRPr sz="1200">
              <a:solidFill>
                <a:srgbClr val="000000"/>
              </a:solidFill>
              <a:latin typeface="Roboto"/>
              <a:ea typeface="Roboto"/>
              <a:cs typeface="Roboto"/>
              <a:sym typeface="Roboto"/>
            </a:endParaRPr>
          </a:p>
          <a:p>
            <a:pPr marL="0" lvl="0" indent="0" algn="l" rtl="0">
              <a:spcBef>
                <a:spcPts val="1400"/>
              </a:spcBef>
              <a:spcAft>
                <a:spcPts val="0"/>
              </a:spcAft>
              <a:buNone/>
            </a:pPr>
            <a:r>
              <a:rPr lang="en" sz="1200" b="1">
                <a:solidFill>
                  <a:srgbClr val="000000"/>
                </a:solidFill>
                <a:latin typeface="Roboto"/>
                <a:ea typeface="Roboto"/>
                <a:cs typeface="Roboto"/>
                <a:sym typeface="Roboto"/>
              </a:rPr>
              <a:t>3.3.3 Failure Handling</a:t>
            </a:r>
            <a:endParaRPr sz="1200" b="1">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All processing wrapped in try/catch → prevents SQS poison-pill failure.</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Partial failures logged without halting pipeline.</a:t>
            </a:r>
            <a:endParaRPr sz="1200">
              <a:solidFill>
                <a:srgbClr val="000000"/>
              </a:solidFill>
              <a:latin typeface="Roboto"/>
              <a:ea typeface="Roboto"/>
              <a:cs typeface="Roboto"/>
              <a:sym typeface="Roboto"/>
            </a:endParaRPr>
          </a:p>
          <a:p>
            <a:pPr marL="0" lvl="0" indent="0" algn="l" rtl="0">
              <a:spcBef>
                <a:spcPts val="1400"/>
              </a:spcBef>
              <a:spcAft>
                <a:spcPts val="0"/>
              </a:spcAft>
              <a:buNone/>
            </a:pPr>
            <a:r>
              <a:rPr lang="en" sz="1200" b="1">
                <a:solidFill>
                  <a:srgbClr val="000000"/>
                </a:solidFill>
                <a:latin typeface="Roboto"/>
                <a:ea typeface="Roboto"/>
                <a:cs typeface="Roboto"/>
                <a:sym typeface="Roboto"/>
              </a:rPr>
              <a:t>3.3.4 CloudWatch Metrics - </a:t>
            </a:r>
            <a:r>
              <a:rPr lang="en" sz="1200">
                <a:solidFill>
                  <a:srgbClr val="000000"/>
                </a:solidFill>
                <a:latin typeface="Roboto"/>
                <a:ea typeface="Roboto"/>
                <a:cs typeface="Roboto"/>
                <a:sym typeface="Roboto"/>
              </a:rPr>
              <a:t>Published custom metrics:</a:t>
            </a:r>
            <a:endParaRPr sz="120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TransactionsProcessed</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HighRiskTransactions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FraudRatePercent</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Enables analysts to view fraud trend lines over time.</a:t>
            </a:r>
            <a:endParaRPr sz="1200">
              <a:solidFill>
                <a:srgbClr val="000000"/>
              </a:solidFill>
              <a:latin typeface="Roboto"/>
              <a:ea typeface="Roboto"/>
              <a:cs typeface="Roboto"/>
              <a:sym typeface="Roboto"/>
            </a:endParaRPr>
          </a:p>
          <a:p>
            <a:pPr marL="0" lvl="0" indent="0" algn="l" rtl="0">
              <a:spcBef>
                <a:spcPts val="1400"/>
              </a:spcBef>
              <a:spcAft>
                <a:spcPts val="0"/>
              </a:spcAft>
              <a:buNone/>
            </a:pPr>
            <a:r>
              <a:rPr lang="en" sz="1200" b="1">
                <a:solidFill>
                  <a:srgbClr val="000000"/>
                </a:solidFill>
                <a:latin typeface="Roboto"/>
                <a:ea typeface="Roboto"/>
                <a:cs typeface="Roboto"/>
                <a:sym typeface="Roboto"/>
              </a:rPr>
              <a:t>3.3.5 SNS Alerts</a:t>
            </a:r>
            <a:endParaRPr sz="1200" b="1">
              <a:solidFill>
                <a:srgbClr val="000000"/>
              </a:solidFill>
              <a:latin typeface="Roboto"/>
              <a:ea typeface="Roboto"/>
              <a:cs typeface="Roboto"/>
              <a:sym typeface="Roboto"/>
            </a:endParaRPr>
          </a:p>
          <a:p>
            <a:pPr marL="0" lvl="0" indent="0" algn="l" rtl="0">
              <a:spcBef>
                <a:spcPts val="1200"/>
              </a:spcBef>
              <a:spcAft>
                <a:spcPts val="0"/>
              </a:spcAft>
              <a:buNone/>
            </a:pPr>
            <a:r>
              <a:rPr lang="en" sz="1200">
                <a:solidFill>
                  <a:srgbClr val="000000"/>
                </a:solidFill>
                <a:latin typeface="Roboto"/>
                <a:ea typeface="Roboto"/>
                <a:cs typeface="Roboto"/>
                <a:sym typeface="Roboto"/>
              </a:rPr>
              <a:t>High-risk </a:t>
            </a:r>
            <a:r>
              <a:rPr lang="en" sz="1200">
                <a:solidFill>
                  <a:srgbClr val="188038"/>
                </a:solidFill>
                <a:latin typeface="Roboto"/>
                <a:ea typeface="Roboto"/>
                <a:cs typeface="Roboto"/>
                <a:sym typeface="Roboto"/>
              </a:rPr>
              <a:t>FLAG</a:t>
            </a:r>
            <a:r>
              <a:rPr lang="en" sz="1200">
                <a:solidFill>
                  <a:srgbClr val="000000"/>
                </a:solidFill>
                <a:latin typeface="Roboto"/>
                <a:ea typeface="Roboto"/>
                <a:cs typeface="Roboto"/>
                <a:sym typeface="Roboto"/>
              </a:rPr>
              <a:t> and </a:t>
            </a:r>
            <a:r>
              <a:rPr lang="en" sz="1200">
                <a:solidFill>
                  <a:srgbClr val="188038"/>
                </a:solidFill>
                <a:latin typeface="Roboto"/>
                <a:ea typeface="Roboto"/>
                <a:cs typeface="Roboto"/>
                <a:sym typeface="Roboto"/>
              </a:rPr>
              <a:t>HOLD</a:t>
            </a:r>
            <a:r>
              <a:rPr lang="en" sz="1200">
                <a:solidFill>
                  <a:srgbClr val="000000"/>
                </a:solidFill>
                <a:latin typeface="Roboto"/>
                <a:ea typeface="Roboto"/>
                <a:cs typeface="Roboto"/>
                <a:sym typeface="Roboto"/>
              </a:rPr>
              <a:t> transactions trigger:</a:t>
            </a:r>
            <a:endParaRPr sz="120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a:solidFill>
                  <a:srgbClr val="000000"/>
                </a:solidFill>
                <a:latin typeface="Roboto"/>
                <a:ea typeface="Roboto"/>
                <a:cs typeface="Roboto"/>
                <a:sym typeface="Roboto"/>
              </a:rPr>
              <a:t>Email Subject: </a:t>
            </a:r>
            <a:r>
              <a:rPr lang="en" sz="1200">
                <a:solidFill>
                  <a:srgbClr val="188038"/>
                </a:solidFill>
                <a:latin typeface="Roboto"/>
                <a:ea typeface="Roboto"/>
                <a:cs typeface="Roboto"/>
                <a:sym typeface="Roboto"/>
              </a:rPr>
              <a:t>[FraudDetector] HOLD txn for U4019</a:t>
            </a:r>
            <a:endParaRPr sz="1200">
              <a:solidFill>
                <a:srgbClr val="188038"/>
              </a:solidFill>
              <a:latin typeface="Roboto"/>
              <a:ea typeface="Roboto"/>
              <a:cs typeface="Roboto"/>
              <a:sym typeface="Roboto"/>
            </a:endParaRPr>
          </a:p>
          <a:p>
            <a:pPr marL="914400" lvl="1" indent="-304800" algn="l" rtl="0">
              <a:spcBef>
                <a:spcPts val="0"/>
              </a:spcBef>
              <a:spcAft>
                <a:spcPts val="0"/>
              </a:spcAft>
              <a:buClr>
                <a:srgbClr val="000000"/>
              </a:buClr>
              <a:buSzPts val="1200"/>
              <a:buFont typeface="Arial"/>
              <a:buChar char="○"/>
            </a:pPr>
            <a:r>
              <a:rPr lang="en" sz="1200">
                <a:solidFill>
                  <a:srgbClr val="000000"/>
                </a:solidFill>
                <a:latin typeface="Roboto"/>
                <a:ea typeface="Roboto"/>
                <a:cs typeface="Roboto"/>
                <a:sym typeface="Roboto"/>
              </a:rPr>
              <a:t>JSON body containing full details</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Arial"/>
              <a:buChar char="○"/>
            </a:pPr>
            <a:r>
              <a:rPr lang="en" sz="1200">
                <a:solidFill>
                  <a:srgbClr val="000000"/>
                </a:solidFill>
                <a:latin typeface="Roboto"/>
                <a:ea typeface="Roboto"/>
                <a:cs typeface="Roboto"/>
                <a:sym typeface="Roboto"/>
              </a:rPr>
              <a:t>Ensures real-time investigator notification.</a:t>
            </a:r>
            <a:endParaRPr sz="1200">
              <a:solidFill>
                <a:srgbClr val="000000"/>
              </a:solidFill>
              <a:latin typeface="Roboto"/>
              <a:ea typeface="Roboto"/>
              <a:cs typeface="Roboto"/>
              <a:sym typeface="Roboto"/>
            </a:endParaRPr>
          </a:p>
          <a:p>
            <a:pPr marL="0" lvl="0" indent="0" algn="l" rtl="0">
              <a:spcBef>
                <a:spcPts val="1200"/>
              </a:spcBef>
              <a:spcAft>
                <a:spcPts val="0"/>
              </a:spcAft>
              <a:buNone/>
            </a:pPr>
            <a:endParaRPr sz="12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7"/>
          <p:cNvSpPr txBox="1">
            <a:spLocks noGrp="1"/>
          </p:cNvSpPr>
          <p:nvPr>
            <p:ph type="title"/>
          </p:nvPr>
        </p:nvSpPr>
        <p:spPr>
          <a:xfrm>
            <a:off x="161475" y="11805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3.4 DynamoDB — fraud_table</a:t>
            </a:r>
            <a:endParaRPr>
              <a:latin typeface="Roboto"/>
              <a:ea typeface="Roboto"/>
              <a:cs typeface="Roboto"/>
              <a:sym typeface="Roboto"/>
            </a:endParaRPr>
          </a:p>
        </p:txBody>
      </p:sp>
      <p:sp>
        <p:nvSpPr>
          <p:cNvPr id="217" name="Google Shape;217;p37"/>
          <p:cNvSpPr txBox="1">
            <a:spLocks noGrp="1"/>
          </p:cNvSpPr>
          <p:nvPr>
            <p:ph type="body" idx="1"/>
          </p:nvPr>
        </p:nvSpPr>
        <p:spPr>
          <a:xfrm>
            <a:off x="161475" y="762000"/>
            <a:ext cx="4294200" cy="40059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200" b="1">
                <a:solidFill>
                  <a:srgbClr val="000000"/>
                </a:solidFill>
                <a:latin typeface="Roboto"/>
                <a:ea typeface="Roboto"/>
                <a:cs typeface="Roboto"/>
                <a:sym typeface="Roboto"/>
              </a:rPr>
              <a:t>Table Keys</a:t>
            </a:r>
            <a:endParaRPr sz="1200" b="1">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b="1">
                <a:solidFill>
                  <a:srgbClr val="000000"/>
                </a:solidFill>
                <a:latin typeface="Roboto"/>
                <a:ea typeface="Roboto"/>
                <a:cs typeface="Roboto"/>
                <a:sym typeface="Roboto"/>
              </a:rPr>
              <a:t>pk:</a:t>
            </a:r>
            <a:r>
              <a:rPr lang="en" sz="1200">
                <a:solidFill>
                  <a:srgbClr val="000000"/>
                </a:solidFill>
                <a:latin typeface="Roboto"/>
                <a:ea typeface="Roboto"/>
                <a:cs typeface="Roboto"/>
                <a:sym typeface="Roboto"/>
              </a:rPr>
              <a:t> </a:t>
            </a:r>
            <a:r>
              <a:rPr lang="en" sz="1200">
                <a:solidFill>
                  <a:srgbClr val="188038"/>
                </a:solidFill>
                <a:latin typeface="Roboto"/>
                <a:ea typeface="Roboto"/>
                <a:cs typeface="Roboto"/>
                <a:sym typeface="Roboto"/>
              </a:rPr>
              <a:t>USER#&lt;userId&gt;</a:t>
            </a:r>
            <a:br>
              <a:rPr lang="en" sz="1200">
                <a:solidFill>
                  <a:srgbClr val="188038"/>
                </a:solidFill>
                <a:latin typeface="Roboto"/>
                <a:ea typeface="Roboto"/>
                <a:cs typeface="Roboto"/>
                <a:sym typeface="Roboto"/>
              </a:rPr>
            </a:br>
            <a:r>
              <a:rPr lang="en" sz="1200" b="1">
                <a:solidFill>
                  <a:srgbClr val="000000"/>
                </a:solidFill>
                <a:latin typeface="Roboto"/>
                <a:ea typeface="Roboto"/>
                <a:cs typeface="Roboto"/>
                <a:sym typeface="Roboto"/>
              </a:rPr>
              <a:t>sk:</a:t>
            </a:r>
            <a:r>
              <a:rPr lang="en" sz="1200">
                <a:solidFill>
                  <a:srgbClr val="000000"/>
                </a:solidFill>
                <a:latin typeface="Roboto"/>
                <a:ea typeface="Roboto"/>
                <a:cs typeface="Roboto"/>
                <a:sym typeface="Roboto"/>
              </a:rPr>
              <a:t> </a:t>
            </a:r>
            <a:r>
              <a:rPr lang="en" sz="1200">
                <a:solidFill>
                  <a:srgbClr val="188038"/>
                </a:solidFill>
                <a:latin typeface="Roboto"/>
                <a:ea typeface="Roboto"/>
                <a:cs typeface="Roboto"/>
                <a:sym typeface="Roboto"/>
              </a:rPr>
              <a:t>TS#&lt;timestamp&gt;#TXN#&lt;txnId&gt;</a:t>
            </a:r>
            <a:br>
              <a:rPr lang="en" sz="1200">
                <a:solidFill>
                  <a:srgbClr val="188038"/>
                </a:solidFill>
                <a:latin typeface="Roboto"/>
                <a:ea typeface="Roboto"/>
                <a:cs typeface="Roboto"/>
                <a:sym typeface="Roboto"/>
              </a:rPr>
            </a:br>
            <a:endParaRPr sz="1200">
              <a:solidFill>
                <a:srgbClr val="188038"/>
              </a:solidFill>
              <a:latin typeface="Roboto"/>
              <a:ea typeface="Roboto"/>
              <a:cs typeface="Roboto"/>
              <a:sym typeface="Roboto"/>
            </a:endParaRPr>
          </a:p>
          <a:p>
            <a:pPr marL="0" lvl="0" indent="0" algn="l" rtl="0">
              <a:spcBef>
                <a:spcPts val="1400"/>
              </a:spcBef>
              <a:spcAft>
                <a:spcPts val="0"/>
              </a:spcAft>
              <a:buNone/>
            </a:pPr>
            <a:r>
              <a:rPr lang="en" sz="1200" b="1">
                <a:solidFill>
                  <a:srgbClr val="000000"/>
                </a:solidFill>
                <a:latin typeface="Roboto"/>
                <a:ea typeface="Roboto"/>
                <a:cs typeface="Roboto"/>
                <a:sym typeface="Roboto"/>
              </a:rPr>
              <a:t>GSI for Investigator Queries</a:t>
            </a:r>
            <a:endParaRPr sz="1200" b="1">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b="1">
                <a:solidFill>
                  <a:srgbClr val="000000"/>
                </a:solidFill>
                <a:latin typeface="Roboto"/>
                <a:ea typeface="Roboto"/>
                <a:cs typeface="Roboto"/>
                <a:sym typeface="Roboto"/>
              </a:rPr>
              <a:t>gsi1pk:</a:t>
            </a:r>
            <a:r>
              <a:rPr lang="en" sz="1200">
                <a:solidFill>
                  <a:srgbClr val="000000"/>
                </a:solidFill>
                <a:latin typeface="Roboto"/>
                <a:ea typeface="Roboto"/>
                <a:cs typeface="Roboto"/>
                <a:sym typeface="Roboto"/>
              </a:rPr>
              <a:t> </a:t>
            </a:r>
            <a:r>
              <a:rPr lang="en" sz="1200">
                <a:solidFill>
                  <a:srgbClr val="188038"/>
                </a:solidFill>
                <a:latin typeface="Roboto"/>
                <a:ea typeface="Roboto"/>
                <a:cs typeface="Roboto"/>
                <a:sym typeface="Roboto"/>
              </a:rPr>
              <a:t>DECISION#&lt;decision&gt;</a:t>
            </a:r>
            <a:endParaRPr sz="1200">
              <a:solidFill>
                <a:srgbClr val="188038"/>
              </a:solidFill>
              <a:latin typeface="Roboto"/>
              <a:ea typeface="Roboto"/>
              <a:cs typeface="Roboto"/>
              <a:sym typeface="Roboto"/>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Roboto"/>
                <a:ea typeface="Roboto"/>
                <a:cs typeface="Roboto"/>
                <a:sym typeface="Roboto"/>
              </a:rPr>
              <a:t>gsi1sk:</a:t>
            </a:r>
            <a:r>
              <a:rPr lang="en" sz="1200">
                <a:solidFill>
                  <a:srgbClr val="000000"/>
                </a:solidFill>
                <a:latin typeface="Roboto"/>
                <a:ea typeface="Roboto"/>
                <a:cs typeface="Roboto"/>
                <a:sym typeface="Roboto"/>
              </a:rPr>
              <a:t> </a:t>
            </a:r>
            <a:r>
              <a:rPr lang="en" sz="1200">
                <a:solidFill>
                  <a:srgbClr val="188038"/>
                </a:solidFill>
                <a:latin typeface="Roboto"/>
                <a:ea typeface="Roboto"/>
                <a:cs typeface="Roboto"/>
                <a:sym typeface="Roboto"/>
              </a:rPr>
              <a:t>&lt;timestamp&gt;#&lt;txnId&gt;</a:t>
            </a:r>
            <a:br>
              <a:rPr lang="en" sz="1200">
                <a:solidFill>
                  <a:srgbClr val="188038"/>
                </a:solidFill>
                <a:latin typeface="Roboto"/>
                <a:ea typeface="Roboto"/>
                <a:cs typeface="Roboto"/>
                <a:sym typeface="Roboto"/>
              </a:rPr>
            </a:br>
            <a:endParaRPr sz="1200">
              <a:solidFill>
                <a:srgbClr val="188038"/>
              </a:solidFill>
              <a:latin typeface="Roboto"/>
              <a:ea typeface="Roboto"/>
              <a:cs typeface="Roboto"/>
              <a:sym typeface="Roboto"/>
            </a:endParaRPr>
          </a:p>
          <a:p>
            <a:pPr marL="0" lvl="0" indent="0" algn="l" rtl="0">
              <a:spcBef>
                <a:spcPts val="1400"/>
              </a:spcBef>
              <a:spcAft>
                <a:spcPts val="0"/>
              </a:spcAft>
              <a:buNone/>
            </a:pPr>
            <a:r>
              <a:rPr lang="en" sz="1200" b="1">
                <a:solidFill>
                  <a:srgbClr val="000000"/>
                </a:solidFill>
                <a:latin typeface="Roboto"/>
                <a:ea typeface="Roboto"/>
                <a:cs typeface="Roboto"/>
                <a:sym typeface="Roboto"/>
              </a:rPr>
              <a:t>Benefits of this approach</a:t>
            </a:r>
            <a:endParaRPr sz="1200" b="1">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Fast time-ordered lookup using sort keys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Separation of concerns: investigation vs user history</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Low-cost on-demand mode</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Clean integration with S3 UI</a:t>
            </a:r>
            <a:br>
              <a:rPr lang="en" sz="1200">
                <a:solidFill>
                  <a:srgbClr val="000000"/>
                </a:solidFill>
                <a:latin typeface="Roboto"/>
                <a:ea typeface="Roboto"/>
                <a:cs typeface="Roboto"/>
                <a:sym typeface="Roboto"/>
              </a:rPr>
            </a:br>
            <a:endParaRPr sz="1200">
              <a:latin typeface="Roboto"/>
              <a:ea typeface="Roboto"/>
              <a:cs typeface="Roboto"/>
              <a:sym typeface="Roboto"/>
            </a:endParaRPr>
          </a:p>
        </p:txBody>
      </p:sp>
      <p:pic>
        <p:nvPicPr>
          <p:cNvPr id="218" name="Google Shape;218;p37"/>
          <p:cNvPicPr preferRelativeResize="0"/>
          <p:nvPr/>
        </p:nvPicPr>
        <p:blipFill>
          <a:blip r:embed="rId3">
            <a:alphaModFix/>
          </a:blip>
          <a:stretch>
            <a:fillRect/>
          </a:stretch>
        </p:blipFill>
        <p:spPr>
          <a:xfrm>
            <a:off x="4455675" y="652513"/>
            <a:ext cx="4383524" cy="38384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8"/>
          <p:cNvSpPr txBox="1">
            <a:spLocks noGrp="1"/>
          </p:cNvSpPr>
          <p:nvPr>
            <p:ph type="body" idx="1"/>
          </p:nvPr>
        </p:nvSpPr>
        <p:spPr>
          <a:xfrm>
            <a:off x="311700" y="571074"/>
            <a:ext cx="8520600" cy="44538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200" b="1" dirty="0">
                <a:solidFill>
                  <a:srgbClr val="000000"/>
                </a:solidFill>
                <a:latin typeface="Roboto"/>
                <a:ea typeface="Roboto"/>
                <a:cs typeface="Roboto"/>
                <a:sym typeface="Roboto"/>
              </a:rPr>
              <a:t>Responsibilities</a:t>
            </a:r>
            <a:endParaRPr sz="1200" b="1" dirty="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Query GSI for latest ALLOW, FLAG, HOLD decisions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Convert DynamoDB Decimal types → floats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Return human-friendly JSON for UI consumption</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Support CORS for S3 static </a:t>
            </a:r>
            <a:r>
              <a:rPr lang="en" sz="1200" dirty="0" smtClean="0">
                <a:solidFill>
                  <a:srgbClr val="000000"/>
                </a:solidFill>
                <a:latin typeface="Roboto"/>
                <a:ea typeface="Roboto"/>
                <a:cs typeface="Roboto"/>
                <a:sym typeface="Roboto"/>
              </a:rPr>
              <a:t>site</a:t>
            </a:r>
            <a:endParaRPr lang="en" sz="1200" dirty="0">
              <a:solidFill>
                <a:srgbClr val="000000"/>
              </a:solidFill>
              <a:latin typeface="Roboto"/>
              <a:ea typeface="Roboto"/>
              <a:cs typeface="Roboto"/>
              <a:sym typeface="Roboto"/>
            </a:endParaRPr>
          </a:p>
          <a:p>
            <a:pPr marL="152400" lvl="0" indent="0" algn="l" rtl="0">
              <a:spcBef>
                <a:spcPts val="0"/>
              </a:spcBef>
              <a:spcAft>
                <a:spcPts val="0"/>
              </a:spcAft>
              <a:buClr>
                <a:srgbClr val="000000"/>
              </a:buClr>
              <a:buSzPts val="1200"/>
              <a:buNone/>
            </a:pPr>
            <a:r>
              <a:rPr lang="en" sz="1200" b="1" dirty="0" smtClean="0">
                <a:solidFill>
                  <a:srgbClr val="000000"/>
                </a:solidFill>
                <a:latin typeface="Roboto"/>
                <a:ea typeface="Roboto"/>
                <a:cs typeface="Roboto"/>
                <a:sym typeface="Roboto"/>
              </a:rPr>
              <a:t>Returned </a:t>
            </a:r>
            <a:r>
              <a:rPr lang="en" sz="1200" b="1" dirty="0">
                <a:solidFill>
                  <a:srgbClr val="000000"/>
                </a:solidFill>
                <a:latin typeface="Roboto"/>
                <a:ea typeface="Roboto"/>
                <a:cs typeface="Roboto"/>
                <a:sym typeface="Roboto"/>
              </a:rPr>
              <a:t>Schema</a:t>
            </a:r>
            <a:endParaRPr sz="1200" b="1" dirty="0">
              <a:solidFill>
                <a:srgbClr val="000000"/>
              </a:solidFill>
              <a:latin typeface="Roboto"/>
              <a:ea typeface="Roboto"/>
              <a:cs typeface="Roboto"/>
              <a:sym typeface="Roboto"/>
            </a:endParaRPr>
          </a:p>
          <a:p>
            <a:pPr marL="0" lvl="0" indent="0" algn="l" rtl="0">
              <a:spcBef>
                <a:spcPts val="400"/>
              </a:spcBef>
              <a:spcAft>
                <a:spcPts val="0"/>
              </a:spcAft>
              <a:buNone/>
            </a:pPr>
            <a:r>
              <a:rPr lang="en" sz="1200" dirty="0">
                <a:solidFill>
                  <a:srgbClr val="188038"/>
                </a:solidFill>
                <a:latin typeface="Roboto"/>
                <a:ea typeface="Roboto"/>
                <a:cs typeface="Roboto"/>
                <a:sym typeface="Roboto"/>
              </a:rPr>
              <a:t>{</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"user": "U4019",</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"txnId": "ef02763",</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"decision": "FLAG",</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"risk": 2,</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"reasons": ["COUNTRY_MISMATCH"],</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"amount": 148.85,</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"time": "2025-12-07T02:16Z",</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"lat": 37.77,</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"lon": -122.41,</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"homeCountry": "US",</a:t>
            </a:r>
            <a:endParaRPr sz="1200" dirty="0">
              <a:solidFill>
                <a:srgbClr val="188038"/>
              </a:solidFill>
              <a:latin typeface="Roboto"/>
              <a:ea typeface="Roboto"/>
              <a:cs typeface="Roboto"/>
              <a:sym typeface="Roboto"/>
            </a:endParaRPr>
          </a:p>
          <a:p>
            <a:pPr marL="457200" lvl="0" indent="0" algn="l" rtl="0">
              <a:spcBef>
                <a:spcPts val="0"/>
              </a:spcBef>
              <a:spcAft>
                <a:spcPts val="0"/>
              </a:spcAft>
              <a:buNone/>
            </a:pPr>
            <a:r>
              <a:rPr lang="en" sz="1200" dirty="0">
                <a:solidFill>
                  <a:srgbClr val="188038"/>
                </a:solidFill>
                <a:latin typeface="Roboto"/>
                <a:ea typeface="Roboto"/>
                <a:cs typeface="Roboto"/>
                <a:sym typeface="Roboto"/>
              </a:rPr>
              <a:t>  "txCountry": "CA"</a:t>
            </a:r>
            <a:endParaRPr sz="1200" dirty="0">
              <a:solidFill>
                <a:srgbClr val="188038"/>
              </a:solidFill>
              <a:latin typeface="Roboto"/>
              <a:ea typeface="Roboto"/>
              <a:cs typeface="Roboto"/>
              <a:sym typeface="Roboto"/>
            </a:endParaRPr>
          </a:p>
          <a:p>
            <a:pPr marL="0" lvl="0" indent="0" algn="l" rtl="0">
              <a:spcBef>
                <a:spcPts val="0"/>
              </a:spcBef>
              <a:spcAft>
                <a:spcPts val="0"/>
              </a:spcAft>
              <a:buNone/>
            </a:pPr>
            <a:r>
              <a:rPr lang="en" sz="1200" dirty="0">
                <a:solidFill>
                  <a:srgbClr val="188038"/>
                </a:solidFill>
                <a:latin typeface="Roboto"/>
                <a:ea typeface="Roboto"/>
                <a:cs typeface="Roboto"/>
                <a:sym typeface="Roboto"/>
              </a:rPr>
              <a:t>}</a:t>
            </a:r>
            <a:endParaRPr sz="1200" dirty="0">
              <a:latin typeface="Roboto"/>
              <a:ea typeface="Roboto"/>
              <a:cs typeface="Roboto"/>
              <a:sym typeface="Roboto"/>
            </a:endParaRPr>
          </a:p>
        </p:txBody>
      </p:sp>
      <p:sp>
        <p:nvSpPr>
          <p:cNvPr id="224" name="Google Shape;224;p38"/>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Arial"/>
                <a:ea typeface="Arial"/>
                <a:cs typeface="Arial"/>
                <a:sym typeface="Arial"/>
              </a:rPr>
              <a:t>3.5 investigator-api Lambda (Query Endpoint)</a:t>
            </a:r>
            <a:endParaRPr/>
          </a:p>
        </p:txBody>
      </p:sp>
      <p:pic>
        <p:nvPicPr>
          <p:cNvPr id="225" name="Google Shape;225;p38"/>
          <p:cNvPicPr preferRelativeResize="0"/>
          <p:nvPr/>
        </p:nvPicPr>
        <p:blipFill>
          <a:blip r:embed="rId3">
            <a:alphaModFix/>
          </a:blip>
          <a:stretch>
            <a:fillRect/>
          </a:stretch>
        </p:blipFill>
        <p:spPr>
          <a:xfrm>
            <a:off x="4422225" y="706550"/>
            <a:ext cx="4721775" cy="4182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9"/>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3.6 API Gateway (Public API)</a:t>
            </a:r>
            <a:endParaRPr>
              <a:latin typeface="Roboto"/>
              <a:ea typeface="Roboto"/>
              <a:cs typeface="Roboto"/>
              <a:sym typeface="Roboto"/>
            </a:endParaRPr>
          </a:p>
        </p:txBody>
      </p:sp>
      <p:sp>
        <p:nvSpPr>
          <p:cNvPr id="231" name="Google Shape;231;p39"/>
          <p:cNvSpPr txBox="1">
            <a:spLocks noGrp="1"/>
          </p:cNvSpPr>
          <p:nvPr>
            <p:ph type="body" idx="1"/>
          </p:nvPr>
        </p:nvSpPr>
        <p:spPr>
          <a:xfrm>
            <a:off x="311700" y="712800"/>
            <a:ext cx="4100100" cy="38511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a:solidFill>
                  <a:srgbClr val="000000"/>
                </a:solidFill>
                <a:latin typeface="Roboto"/>
                <a:ea typeface="Roboto"/>
                <a:cs typeface="Roboto"/>
                <a:sym typeface="Roboto"/>
              </a:rPr>
              <a:t>Configuration includes:</a:t>
            </a:r>
            <a:endParaRPr sz="120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a:solidFill>
                  <a:srgbClr val="000000"/>
                </a:solidFill>
                <a:latin typeface="Roboto"/>
                <a:ea typeface="Roboto"/>
                <a:cs typeface="Roboto"/>
                <a:sym typeface="Roboto"/>
              </a:rPr>
              <a:t>Resource: </a:t>
            </a:r>
            <a:r>
              <a:rPr lang="en" sz="1200">
                <a:solidFill>
                  <a:srgbClr val="188038"/>
                </a:solidFill>
                <a:latin typeface="Roboto"/>
                <a:ea typeface="Roboto"/>
                <a:cs typeface="Roboto"/>
                <a:sym typeface="Roboto"/>
              </a:rPr>
              <a:t>/investigator</a:t>
            </a:r>
            <a:br>
              <a:rPr lang="en" sz="1200">
                <a:solidFill>
                  <a:srgbClr val="188038"/>
                </a:solidFill>
                <a:latin typeface="Roboto"/>
                <a:ea typeface="Roboto"/>
                <a:cs typeface="Roboto"/>
                <a:sym typeface="Roboto"/>
              </a:rPr>
            </a:br>
            <a:endParaRPr sz="1200">
              <a:solidFill>
                <a:srgbClr val="188038"/>
              </a:solidFill>
              <a:latin typeface="Roboto"/>
              <a:ea typeface="Roboto"/>
              <a:cs typeface="Roboto"/>
              <a:sym typeface="Roboto"/>
            </a:endParaRPr>
          </a:p>
          <a:p>
            <a:pPr marL="457200" lvl="0" indent="-304800" algn="l" rtl="0">
              <a:spcBef>
                <a:spcPts val="0"/>
              </a:spcBef>
              <a:spcAft>
                <a:spcPts val="0"/>
              </a:spcAft>
              <a:buClr>
                <a:srgbClr val="000000"/>
              </a:buClr>
              <a:buSzPts val="1200"/>
              <a:buFont typeface="Arial"/>
              <a:buChar char="●"/>
            </a:pPr>
            <a:r>
              <a:rPr lang="en" sz="1200">
                <a:solidFill>
                  <a:srgbClr val="000000"/>
                </a:solidFill>
                <a:latin typeface="Roboto"/>
                <a:ea typeface="Roboto"/>
                <a:cs typeface="Roboto"/>
                <a:sym typeface="Roboto"/>
              </a:rPr>
              <a:t>Method: </a:t>
            </a:r>
            <a:r>
              <a:rPr lang="en" sz="1200">
                <a:solidFill>
                  <a:srgbClr val="188038"/>
                </a:solidFill>
                <a:latin typeface="Roboto"/>
                <a:ea typeface="Roboto"/>
                <a:cs typeface="Roboto"/>
                <a:sym typeface="Roboto"/>
              </a:rPr>
              <a:t>GET</a:t>
            </a:r>
            <a:br>
              <a:rPr lang="en" sz="1200">
                <a:solidFill>
                  <a:srgbClr val="188038"/>
                </a:solidFill>
                <a:latin typeface="Roboto"/>
                <a:ea typeface="Roboto"/>
                <a:cs typeface="Roboto"/>
                <a:sym typeface="Roboto"/>
              </a:rPr>
            </a:br>
            <a:endParaRPr sz="1200">
              <a:solidFill>
                <a:srgbClr val="188038"/>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Lambda proxy integration</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CORS enabled</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Public access allowed (no auth)</a:t>
            </a:r>
            <a:br>
              <a:rPr lang="en" sz="1200">
                <a:solidFill>
                  <a:srgbClr val="000000"/>
                </a:solidFill>
                <a:latin typeface="Roboto"/>
                <a:ea typeface="Roboto"/>
                <a:cs typeface="Roboto"/>
                <a:sym typeface="Roboto"/>
              </a:rPr>
            </a:b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Arial"/>
              <a:buChar char="●"/>
            </a:pPr>
            <a:r>
              <a:rPr lang="en" sz="1200">
                <a:solidFill>
                  <a:srgbClr val="000000"/>
                </a:solidFill>
                <a:latin typeface="Roboto"/>
                <a:ea typeface="Roboto"/>
                <a:cs typeface="Roboto"/>
                <a:sym typeface="Roboto"/>
              </a:rPr>
              <a:t>Stage: </a:t>
            </a:r>
            <a:r>
              <a:rPr lang="en" sz="1200">
                <a:solidFill>
                  <a:srgbClr val="188038"/>
                </a:solidFill>
                <a:latin typeface="Roboto"/>
                <a:ea typeface="Roboto"/>
                <a:cs typeface="Roboto"/>
                <a:sym typeface="Roboto"/>
              </a:rPr>
              <a:t>/dev</a:t>
            </a:r>
            <a:br>
              <a:rPr lang="en" sz="1200">
                <a:solidFill>
                  <a:srgbClr val="188038"/>
                </a:solidFill>
                <a:latin typeface="Roboto"/>
                <a:ea typeface="Roboto"/>
                <a:cs typeface="Roboto"/>
                <a:sym typeface="Roboto"/>
              </a:rPr>
            </a:br>
            <a:endParaRPr sz="1200">
              <a:solidFill>
                <a:srgbClr val="188038"/>
              </a:solidFill>
              <a:latin typeface="Roboto"/>
              <a:ea typeface="Roboto"/>
              <a:cs typeface="Roboto"/>
              <a:sym typeface="Roboto"/>
            </a:endParaRPr>
          </a:p>
          <a:p>
            <a:pPr marL="0" lvl="0" indent="0" algn="l" rtl="0">
              <a:spcBef>
                <a:spcPts val="1200"/>
              </a:spcBef>
              <a:spcAft>
                <a:spcPts val="0"/>
              </a:spcAft>
              <a:buNone/>
            </a:pPr>
            <a:r>
              <a:rPr lang="en" sz="1200">
                <a:solidFill>
                  <a:srgbClr val="000000"/>
                </a:solidFill>
                <a:latin typeface="Roboto"/>
                <a:ea typeface="Roboto"/>
                <a:cs typeface="Roboto"/>
                <a:sym typeface="Roboto"/>
              </a:rPr>
              <a:t>This serves as the backend for the Investigator Console.</a:t>
            </a:r>
            <a:endParaRPr sz="1200">
              <a:solidFill>
                <a:srgbClr val="000000"/>
              </a:solidFill>
              <a:latin typeface="Roboto"/>
              <a:ea typeface="Roboto"/>
              <a:cs typeface="Roboto"/>
              <a:sym typeface="Roboto"/>
            </a:endParaRPr>
          </a:p>
          <a:p>
            <a:pPr marL="0" lvl="0" indent="0" algn="l" rtl="0">
              <a:spcBef>
                <a:spcPts val="1200"/>
              </a:spcBef>
              <a:spcAft>
                <a:spcPts val="0"/>
              </a:spcAft>
              <a:buNone/>
            </a:pPr>
            <a:endParaRPr/>
          </a:p>
        </p:txBody>
      </p:sp>
      <p:pic>
        <p:nvPicPr>
          <p:cNvPr id="232" name="Google Shape;232;p39"/>
          <p:cNvPicPr preferRelativeResize="0"/>
          <p:nvPr/>
        </p:nvPicPr>
        <p:blipFill>
          <a:blip r:embed="rId3">
            <a:alphaModFix/>
          </a:blip>
          <a:stretch>
            <a:fillRect/>
          </a:stretch>
        </p:blipFill>
        <p:spPr>
          <a:xfrm>
            <a:off x="4411800" y="712800"/>
            <a:ext cx="4427400" cy="34955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0"/>
          <p:cNvSpPr txBox="1">
            <a:spLocks noGrp="1"/>
          </p:cNvSpPr>
          <p:nvPr>
            <p:ph type="title"/>
          </p:nvPr>
        </p:nvSpPr>
        <p:spPr>
          <a:xfrm>
            <a:off x="311700" y="140918"/>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0"/>
              </a:spcAft>
              <a:buNone/>
            </a:pPr>
            <a:r>
              <a:rPr lang="en" sz="2300" b="1">
                <a:solidFill>
                  <a:srgbClr val="000000"/>
                </a:solidFill>
                <a:latin typeface="Roboto"/>
                <a:ea typeface="Roboto"/>
                <a:cs typeface="Roboto"/>
                <a:sym typeface="Roboto"/>
              </a:rPr>
              <a:t>3.7 S3 Static Website — Investigator Console</a:t>
            </a:r>
            <a:endParaRPr sz="2300" b="1">
              <a:solidFill>
                <a:srgbClr val="000000"/>
              </a:solidFill>
              <a:latin typeface="Roboto"/>
              <a:ea typeface="Roboto"/>
              <a:cs typeface="Roboto"/>
              <a:sym typeface="Roboto"/>
            </a:endParaRPr>
          </a:p>
          <a:p>
            <a:pPr marL="0" lvl="0" indent="0" algn="l" rtl="0">
              <a:spcBef>
                <a:spcPts val="600"/>
              </a:spcBef>
              <a:spcAft>
                <a:spcPts val="0"/>
              </a:spcAft>
              <a:buNone/>
            </a:pPr>
            <a:endParaRPr sz="2300" b="1">
              <a:solidFill>
                <a:srgbClr val="000000"/>
              </a:solidFill>
              <a:latin typeface="Arial"/>
              <a:ea typeface="Arial"/>
              <a:cs typeface="Arial"/>
              <a:sym typeface="Arial"/>
            </a:endParaRPr>
          </a:p>
        </p:txBody>
      </p:sp>
      <p:sp>
        <p:nvSpPr>
          <p:cNvPr id="238" name="Google Shape;238;p40"/>
          <p:cNvSpPr txBox="1">
            <a:spLocks noGrp="1"/>
          </p:cNvSpPr>
          <p:nvPr>
            <p:ph type="body" idx="1"/>
          </p:nvPr>
        </p:nvSpPr>
        <p:spPr>
          <a:xfrm>
            <a:off x="311700" y="571225"/>
            <a:ext cx="4684200" cy="462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200">
                <a:solidFill>
                  <a:srgbClr val="000000"/>
                </a:solidFill>
                <a:latin typeface="Roboto"/>
                <a:ea typeface="Roboto"/>
                <a:cs typeface="Roboto"/>
                <a:sym typeface="Roboto"/>
              </a:rPr>
              <a:t>A lightweight HTML/JS dashboard that:</a:t>
            </a:r>
            <a:endParaRPr sz="120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Arial"/>
              <a:buChar char="●"/>
            </a:pPr>
            <a:r>
              <a:rPr lang="en" sz="1200">
                <a:solidFill>
                  <a:srgbClr val="000000"/>
                </a:solidFill>
                <a:latin typeface="Roboto"/>
                <a:ea typeface="Roboto"/>
                <a:cs typeface="Roboto"/>
                <a:sym typeface="Roboto"/>
              </a:rPr>
              <a:t>Fetches </a:t>
            </a:r>
            <a:r>
              <a:rPr lang="en" sz="1200">
                <a:solidFill>
                  <a:srgbClr val="188038"/>
                </a:solidFill>
                <a:latin typeface="Roboto"/>
                <a:ea typeface="Roboto"/>
                <a:cs typeface="Roboto"/>
                <a:sym typeface="Roboto"/>
              </a:rPr>
              <a:t>/investigator</a:t>
            </a:r>
            <a:r>
              <a:rPr lang="en" sz="1200">
                <a:solidFill>
                  <a:srgbClr val="000000"/>
                </a:solidFill>
                <a:latin typeface="Roboto"/>
                <a:ea typeface="Roboto"/>
                <a:cs typeface="Roboto"/>
                <a:sym typeface="Roboto"/>
              </a:rPr>
              <a:t> API endpoint</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Renders latest 20 transactions per decision type</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Applies color-coded status badges</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Green = ALLOW</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Orange = FLAG</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Red = HOLD</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Displays:</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user</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txnId</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decision</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reasons</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amount</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timestamp</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home country</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transaction country</a:t>
            </a:r>
            <a:endParaRPr sz="1200">
              <a:solidFill>
                <a:srgbClr val="000000"/>
              </a:solidFill>
              <a:latin typeface="Roboto"/>
              <a:ea typeface="Roboto"/>
              <a:cs typeface="Roboto"/>
              <a:sym typeface="Roboto"/>
            </a:endParaRPr>
          </a:p>
          <a:p>
            <a:pPr marL="914400" lvl="1"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coordinates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Includes “Refresh” button for real-time updates</a:t>
            </a:r>
            <a:endParaRPr sz="120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a:solidFill>
                  <a:srgbClr val="000000"/>
                </a:solidFill>
                <a:latin typeface="Roboto"/>
                <a:ea typeface="Roboto"/>
                <a:cs typeface="Roboto"/>
                <a:sym typeface="Roboto"/>
              </a:rPr>
              <a:t>URL: </a:t>
            </a:r>
            <a:br>
              <a:rPr lang="en" sz="1200">
                <a:solidFill>
                  <a:srgbClr val="000000"/>
                </a:solidFill>
                <a:latin typeface="Roboto"/>
                <a:ea typeface="Roboto"/>
                <a:cs typeface="Roboto"/>
                <a:sym typeface="Roboto"/>
              </a:rPr>
            </a:br>
            <a:endParaRPr sz="1200">
              <a:latin typeface="Roboto"/>
              <a:ea typeface="Roboto"/>
              <a:cs typeface="Roboto"/>
              <a:sym typeface="Roboto"/>
            </a:endParaRPr>
          </a:p>
        </p:txBody>
      </p:sp>
      <p:pic>
        <p:nvPicPr>
          <p:cNvPr id="239" name="Google Shape;239;p40"/>
          <p:cNvPicPr preferRelativeResize="0"/>
          <p:nvPr/>
        </p:nvPicPr>
        <p:blipFill>
          <a:blip r:embed="rId3">
            <a:alphaModFix/>
          </a:blip>
          <a:stretch>
            <a:fillRect/>
          </a:stretch>
        </p:blipFill>
        <p:spPr>
          <a:xfrm>
            <a:off x="4307400" y="669441"/>
            <a:ext cx="4684201" cy="3850559"/>
          </a:xfrm>
          <a:prstGeom prst="rect">
            <a:avLst/>
          </a:prstGeom>
          <a:noFill/>
          <a:ln>
            <a:noFill/>
          </a:ln>
        </p:spPr>
      </p:pic>
      <p:sp>
        <p:nvSpPr>
          <p:cNvPr id="240" name="Google Shape;240;p40"/>
          <p:cNvSpPr txBox="1"/>
          <p:nvPr/>
        </p:nvSpPr>
        <p:spPr>
          <a:xfrm>
            <a:off x="1149888" y="4648323"/>
            <a:ext cx="7220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solidFill>
                  <a:schemeClr val="hlink"/>
                </a:solidFill>
                <a:hlinkClick r:id="rId4"/>
              </a:rPr>
              <a:t>http://fraud-investigator-ui.s3-website-us-east-1.amazonaws.com/</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1"/>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Arial"/>
                <a:ea typeface="Arial"/>
                <a:cs typeface="Arial"/>
                <a:sym typeface="Arial"/>
              </a:rPr>
              <a:t>4. End-to-End Trace &amp; Observability</a:t>
            </a:r>
            <a:endParaRPr/>
          </a:p>
        </p:txBody>
      </p:sp>
      <p:sp>
        <p:nvSpPr>
          <p:cNvPr id="246" name="Google Shape;246;p41"/>
          <p:cNvSpPr txBox="1">
            <a:spLocks noGrp="1"/>
          </p:cNvSpPr>
          <p:nvPr>
            <p:ph type="body" idx="1"/>
          </p:nvPr>
        </p:nvSpPr>
        <p:spPr>
          <a:xfrm>
            <a:off x="451225" y="712809"/>
            <a:ext cx="8520600" cy="38511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en" sz="1100">
                <a:solidFill>
                  <a:srgbClr val="000000"/>
                </a:solidFill>
                <a:latin typeface="Arial"/>
                <a:ea typeface="Arial"/>
                <a:cs typeface="Arial"/>
                <a:sym typeface="Arial"/>
              </a:rPr>
              <a:t/>
            </a:r>
            <a:br>
              <a:rPr lang="en" sz="1100">
                <a:solidFill>
                  <a:srgbClr val="000000"/>
                </a:solidFill>
                <a:latin typeface="Arial"/>
                <a:ea typeface="Arial"/>
                <a:cs typeface="Arial"/>
                <a:sym typeface="Arial"/>
              </a:rPr>
            </a:br>
            <a:endParaRPr/>
          </a:p>
        </p:txBody>
      </p:sp>
      <p:graphicFrame>
        <p:nvGraphicFramePr>
          <p:cNvPr id="247" name="Google Shape;247;p41"/>
          <p:cNvGraphicFramePr/>
          <p:nvPr/>
        </p:nvGraphicFramePr>
        <p:xfrm>
          <a:off x="311700" y="878725"/>
          <a:ext cx="8162025" cy="3416550"/>
        </p:xfrm>
        <a:graphic>
          <a:graphicData uri="http://schemas.openxmlformats.org/drawingml/2006/table">
            <a:tbl>
              <a:tblPr>
                <a:noFill/>
                <a:tableStyleId>{E56237A7-AE8C-4A5A-A484-94130E5B2B2B}</a:tableStyleId>
              </a:tblPr>
              <a:tblGrid>
                <a:gridCol w="3053375"/>
                <a:gridCol w="2387975"/>
                <a:gridCol w="2720675"/>
              </a:tblGrid>
              <a:tr h="486425">
                <a:tc>
                  <a:txBody>
                    <a:bodyPr/>
                    <a:lstStyle/>
                    <a:p>
                      <a:pPr marL="0" lvl="0" indent="0" algn="l" rtl="0">
                        <a:lnSpc>
                          <a:spcPct val="115000"/>
                        </a:lnSpc>
                        <a:spcBef>
                          <a:spcPts val="1400"/>
                        </a:spcBef>
                        <a:spcAft>
                          <a:spcPts val="400"/>
                        </a:spcAft>
                        <a:buNone/>
                      </a:pPr>
                      <a:r>
                        <a:rPr lang="en" sz="1200" b="1">
                          <a:latin typeface="Roboto"/>
                          <a:ea typeface="Roboto"/>
                          <a:cs typeface="Roboto"/>
                          <a:sym typeface="Roboto"/>
                        </a:rPr>
                        <a:t>X-Ray</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l" rtl="0">
                        <a:lnSpc>
                          <a:spcPct val="115000"/>
                        </a:lnSpc>
                        <a:spcBef>
                          <a:spcPts val="1400"/>
                        </a:spcBef>
                        <a:spcAft>
                          <a:spcPts val="400"/>
                        </a:spcAft>
                        <a:buNone/>
                      </a:pPr>
                      <a:r>
                        <a:rPr lang="en" sz="1200" b="1">
                          <a:latin typeface="Roboto"/>
                          <a:ea typeface="Roboto"/>
                          <a:cs typeface="Roboto"/>
                          <a:sym typeface="Roboto"/>
                        </a:rPr>
                        <a:t>CloudWatch Dashboards</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l" rtl="0">
                        <a:lnSpc>
                          <a:spcPct val="115000"/>
                        </a:lnSpc>
                        <a:spcBef>
                          <a:spcPts val="1400"/>
                        </a:spcBef>
                        <a:spcAft>
                          <a:spcPts val="400"/>
                        </a:spcAft>
                        <a:buNone/>
                      </a:pPr>
                      <a:r>
                        <a:rPr lang="en" sz="1200" b="1">
                          <a:latin typeface="Roboto"/>
                          <a:ea typeface="Roboto"/>
                          <a:cs typeface="Roboto"/>
                          <a:sym typeface="Roboto"/>
                        </a:rPr>
                        <a:t>Logging</a:t>
                      </a:r>
                      <a:endParaRPr sz="1200">
                        <a:latin typeface="Roboto"/>
                        <a:ea typeface="Roboto"/>
                        <a:cs typeface="Roboto"/>
                        <a:sym typeface="Roboto"/>
                      </a:endParaRPr>
                    </a:p>
                  </a:txBody>
                  <a:tcPr marL="91425" marR="91425" marT="91425" marB="91425">
                    <a:solidFill>
                      <a:srgbClr val="D9EAD3"/>
                    </a:solidFill>
                  </a:tcPr>
                </a:tc>
              </a:tr>
              <a:tr h="486425">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EventBridge invocation</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Queue depth</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Incoming payload</a:t>
                      </a:r>
                      <a:endParaRPr sz="1200">
                        <a:latin typeface="Roboto"/>
                        <a:ea typeface="Roboto"/>
                        <a:cs typeface="Roboto"/>
                        <a:sym typeface="Roboto"/>
                      </a:endParaRPr>
                    </a:p>
                  </a:txBody>
                  <a:tcPr marL="91425" marR="91425" marT="91425" marB="91425"/>
                </a:tc>
              </a:tr>
              <a:tr h="735425">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tx-generator cold starts and SQS polling</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FraudRatePercent trend</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Parsed transaction</a:t>
                      </a:r>
                      <a:endParaRPr sz="1200">
                        <a:latin typeface="Roboto"/>
                        <a:ea typeface="Roboto"/>
                        <a:cs typeface="Roboto"/>
                        <a:sym typeface="Roboto"/>
                      </a:endParaRPr>
                    </a:p>
                  </a:txBody>
                  <a:tcPr marL="91425" marR="91425" marT="91425" marB="91425"/>
                </a:tc>
              </a:tr>
              <a:tr h="735425">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Score-decide compute time and DynamoDB writes</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Lambda invocation count</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Risk reasoning</a:t>
                      </a:r>
                      <a:br>
                        <a:rPr lang="en" sz="1200">
                          <a:latin typeface="Roboto"/>
                          <a:ea typeface="Roboto"/>
                          <a:cs typeface="Roboto"/>
                          <a:sym typeface="Roboto"/>
                        </a:rPr>
                      </a:br>
                      <a:endParaRPr sz="1200">
                        <a:latin typeface="Roboto"/>
                        <a:ea typeface="Roboto"/>
                        <a:cs typeface="Roboto"/>
                        <a:sym typeface="Roboto"/>
                      </a:endParaRPr>
                    </a:p>
                  </a:txBody>
                  <a:tcPr marL="91425" marR="91425" marT="91425" marB="91425"/>
                </a:tc>
              </a:tr>
              <a:tr h="486425">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API Gateway latency chain</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Error counts</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SNS publish results</a:t>
                      </a:r>
                      <a:endParaRPr sz="1200">
                        <a:latin typeface="Roboto"/>
                        <a:ea typeface="Roboto"/>
                        <a:cs typeface="Roboto"/>
                        <a:sym typeface="Roboto"/>
                      </a:endParaRPr>
                    </a:p>
                  </a:txBody>
                  <a:tcPr marL="91425" marR="91425" marT="91425" marB="91425"/>
                </a:tc>
              </a:tr>
              <a:tr h="486425">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investigator-api execution</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DynamoDB RCUs/ WCUs</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1200"/>
                        </a:spcBef>
                        <a:spcAft>
                          <a:spcPts val="1200"/>
                        </a:spcAft>
                        <a:buNone/>
                      </a:pPr>
                      <a:r>
                        <a:rPr lang="en" sz="1200">
                          <a:latin typeface="Roboto"/>
                          <a:ea typeface="Roboto"/>
                          <a:cs typeface="Roboto"/>
                          <a:sym typeface="Roboto"/>
                        </a:rPr>
                        <a:t>Errors with stack trace</a:t>
                      </a:r>
                      <a:endParaRPr sz="1200">
                        <a:latin typeface="Roboto"/>
                        <a:ea typeface="Roboto"/>
                        <a:cs typeface="Roboto"/>
                        <a:sym typeface="Roboto"/>
                      </a:endParaRPr>
                    </a:p>
                  </a:txBody>
                  <a:tcPr marL="91425" marR="91425" marT="91425" marB="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Performance Evaluation</a:t>
            </a:r>
            <a:endParaRPr>
              <a:latin typeface="Roboto"/>
              <a:ea typeface="Roboto"/>
              <a:cs typeface="Roboto"/>
              <a:sym typeface="Roboto"/>
            </a:endParaRPr>
          </a:p>
        </p:txBody>
      </p:sp>
      <p:graphicFrame>
        <p:nvGraphicFramePr>
          <p:cNvPr id="253" name="Google Shape;253;p42"/>
          <p:cNvGraphicFramePr/>
          <p:nvPr/>
        </p:nvGraphicFramePr>
        <p:xfrm>
          <a:off x="311700" y="863475"/>
          <a:ext cx="4904750" cy="2752134"/>
        </p:xfrm>
        <a:graphic>
          <a:graphicData uri="http://schemas.openxmlformats.org/drawingml/2006/table">
            <a:tbl>
              <a:tblPr>
                <a:noFill/>
                <a:tableStyleId>{E56237A7-AE8C-4A5A-A484-94130E5B2B2B}</a:tableStyleId>
              </a:tblPr>
              <a:tblGrid>
                <a:gridCol w="2752275"/>
                <a:gridCol w="2152475"/>
              </a:tblGrid>
              <a:tr h="327175">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Component</a:t>
                      </a:r>
                      <a:endParaRPr sz="1200">
                        <a:latin typeface="Roboto"/>
                        <a:ea typeface="Roboto"/>
                        <a:cs typeface="Roboto"/>
                        <a:sym typeface="Roboto"/>
                      </a:endParaRPr>
                    </a:p>
                  </a:txBody>
                  <a:tcPr marL="91425" marR="91425" marT="91425" marB="91425">
                    <a:solidFill>
                      <a:srgbClr val="D9EAD3"/>
                    </a:solidFill>
                  </a:tcPr>
                </a:tc>
                <a:tc>
                  <a:txBody>
                    <a:bodyPr/>
                    <a:lstStyle/>
                    <a:p>
                      <a:pPr marL="0" lvl="0" indent="0" algn="ctr" rtl="0">
                        <a:lnSpc>
                          <a:spcPct val="115000"/>
                        </a:lnSpc>
                        <a:spcBef>
                          <a:spcPts val="0"/>
                        </a:spcBef>
                        <a:spcAft>
                          <a:spcPts val="0"/>
                        </a:spcAft>
                        <a:buNone/>
                      </a:pPr>
                      <a:r>
                        <a:rPr lang="en" sz="1200" b="1">
                          <a:latin typeface="Roboto"/>
                          <a:ea typeface="Roboto"/>
                          <a:cs typeface="Roboto"/>
                          <a:sym typeface="Roboto"/>
                        </a:rPr>
                        <a:t>p95 Latency</a:t>
                      </a:r>
                      <a:endParaRPr sz="1200">
                        <a:latin typeface="Roboto"/>
                        <a:ea typeface="Roboto"/>
                        <a:cs typeface="Roboto"/>
                        <a:sym typeface="Roboto"/>
                      </a:endParaRPr>
                    </a:p>
                  </a:txBody>
                  <a:tcPr marL="91425" marR="91425" marT="91425" marB="91425">
                    <a:solidFill>
                      <a:srgbClr val="D9EAD3"/>
                    </a:solidFill>
                  </a:tcPr>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tx-generator</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~20 ms</a:t>
                      </a:r>
                      <a:endParaRPr sz="1200">
                        <a:latin typeface="Roboto"/>
                        <a:ea typeface="Roboto"/>
                        <a:cs typeface="Roboto"/>
                        <a:sym typeface="Roboto"/>
                      </a:endParaRPr>
                    </a:p>
                  </a:txBody>
                  <a:tcPr marL="91425" marR="91425" marT="91425" marB="91425"/>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SQS to Lambda dispatch</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10–50 ms</a:t>
                      </a:r>
                      <a:endParaRPr sz="1200">
                        <a:latin typeface="Roboto"/>
                        <a:ea typeface="Roboto"/>
                        <a:cs typeface="Roboto"/>
                        <a:sym typeface="Roboto"/>
                      </a:endParaRPr>
                    </a:p>
                  </a:txBody>
                  <a:tcPr marL="91425" marR="91425" marT="91425" marB="91425"/>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score-decide compute</a:t>
                      </a:r>
                      <a:endParaRPr sz="1200">
                        <a:latin typeface="Roboto"/>
                        <a:ea typeface="Roboto"/>
                        <a:cs typeface="Roboto"/>
                        <a:sym typeface="Roboto"/>
                      </a:endParaRPr>
                    </a:p>
                  </a:txBody>
                  <a:tcPr marL="91425" marR="91425" marT="91425" marB="91425"/>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80–300 ms</a:t>
                      </a:r>
                      <a:endParaRPr sz="1200">
                        <a:latin typeface="Roboto"/>
                        <a:ea typeface="Roboto"/>
                        <a:cs typeface="Roboto"/>
                        <a:sym typeface="Roboto"/>
                      </a:endParaRPr>
                    </a:p>
                  </a:txBody>
                  <a:tcPr marL="91425" marR="91425" marT="91425" marB="91425"/>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DynamoDB write</a:t>
                      </a:r>
                      <a:endParaRPr sz="1200">
                        <a:latin typeface="Roboto"/>
                        <a:ea typeface="Roboto"/>
                        <a:cs typeface="Roboto"/>
                        <a:sym typeface="Roboto"/>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10–20 ms</a:t>
                      </a:r>
                      <a:endParaRPr sz="1200">
                        <a:latin typeface="Roboto"/>
                        <a:ea typeface="Roboto"/>
                        <a:cs typeface="Roboto"/>
                        <a:sym typeface="Roboto"/>
                      </a:endParaRPr>
                    </a:p>
                  </a:txBody>
                  <a:tcPr marL="91425" marR="91425" marT="91425" marB="91425">
                    <a:lnB w="9525" cap="flat" cmpd="sng">
                      <a:solidFill>
                        <a:srgbClr val="9E9E9E"/>
                      </a:solidFill>
                      <a:prstDash val="solid"/>
                      <a:round/>
                      <a:headEnd type="none" w="sm" len="sm"/>
                      <a:tailEnd type="none" w="sm" len="sm"/>
                    </a:lnB>
                  </a:tcPr>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investigator-api</a:t>
                      </a:r>
                      <a:endParaRPr sz="1200">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30–70 ms</a:t>
                      </a:r>
                      <a:endParaRPr sz="1200">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r h="327175">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API Gateway overhead</a:t>
                      </a:r>
                      <a:endParaRPr sz="1200">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200">
                          <a:latin typeface="Roboto"/>
                          <a:ea typeface="Roboto"/>
                          <a:cs typeface="Roboto"/>
                          <a:sym typeface="Roboto"/>
                        </a:rPr>
                        <a:t>20–40 ms</a:t>
                      </a:r>
                      <a:endParaRPr sz="1200">
                        <a:latin typeface="Roboto"/>
                        <a:ea typeface="Roboto"/>
                        <a:cs typeface="Roboto"/>
                        <a:sym typeface="Robo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r>
            </a:tbl>
          </a:graphicData>
        </a:graphic>
      </p:graphicFrame>
      <p:sp>
        <p:nvSpPr>
          <p:cNvPr id="254" name="Google Shape;254;p42"/>
          <p:cNvSpPr txBox="1"/>
          <p:nvPr/>
        </p:nvSpPr>
        <p:spPr>
          <a:xfrm>
            <a:off x="311725" y="3574225"/>
            <a:ext cx="49047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200" b="1">
                <a:latin typeface="Roboto"/>
                <a:ea typeface="Roboto"/>
                <a:cs typeface="Roboto"/>
                <a:sym typeface="Roboto"/>
              </a:rPr>
              <a:t>End-to-end = ~200–400 ms → meets &lt;500 ms requirement</a:t>
            </a:r>
            <a:endParaRPr sz="1200">
              <a:latin typeface="Roboto"/>
              <a:ea typeface="Roboto"/>
              <a:cs typeface="Roboto"/>
              <a:sym typeface="Roboto"/>
            </a:endParaRPr>
          </a:p>
        </p:txBody>
      </p:sp>
      <p:pic>
        <p:nvPicPr>
          <p:cNvPr id="255" name="Google Shape;255;p42"/>
          <p:cNvPicPr preferRelativeResize="0"/>
          <p:nvPr/>
        </p:nvPicPr>
        <p:blipFill>
          <a:blip r:embed="rId3">
            <a:alphaModFix/>
          </a:blip>
          <a:stretch>
            <a:fillRect/>
          </a:stretch>
        </p:blipFill>
        <p:spPr>
          <a:xfrm>
            <a:off x="5689050" y="1819275"/>
            <a:ext cx="3143250" cy="1504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3"/>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Roboto"/>
                <a:ea typeface="Roboto"/>
                <a:cs typeface="Roboto"/>
                <a:sym typeface="Roboto"/>
              </a:rPr>
              <a:t>6. ML Integration (Extensibility)</a:t>
            </a:r>
            <a:endParaRPr>
              <a:latin typeface="Roboto"/>
              <a:ea typeface="Roboto"/>
              <a:cs typeface="Roboto"/>
              <a:sym typeface="Roboto"/>
            </a:endParaRPr>
          </a:p>
        </p:txBody>
      </p:sp>
      <p:sp>
        <p:nvSpPr>
          <p:cNvPr id="261" name="Google Shape;261;p43"/>
          <p:cNvSpPr txBox="1">
            <a:spLocks noGrp="1"/>
          </p:cNvSpPr>
          <p:nvPr>
            <p:ph type="body" idx="1"/>
          </p:nvPr>
        </p:nvSpPr>
        <p:spPr>
          <a:xfrm>
            <a:off x="311700" y="829834"/>
            <a:ext cx="8520600" cy="38511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100">
                <a:solidFill>
                  <a:srgbClr val="000000"/>
                </a:solidFill>
                <a:latin typeface="Roboto"/>
                <a:ea typeface="Roboto"/>
                <a:cs typeface="Roboto"/>
                <a:sym typeface="Roboto"/>
              </a:rPr>
              <a:t>Although rule-based scoring was used in real-time, the system is built to integrate ML models:</a:t>
            </a:r>
            <a:endParaRPr sz="1100">
              <a:solidFill>
                <a:srgbClr val="000000"/>
              </a:solidFill>
              <a:latin typeface="Roboto"/>
              <a:ea typeface="Roboto"/>
              <a:cs typeface="Roboto"/>
              <a:sym typeface="Roboto"/>
            </a:endParaRPr>
          </a:p>
          <a:p>
            <a:pPr marL="0" lvl="0" indent="0" algn="l" rtl="0">
              <a:spcBef>
                <a:spcPts val="1400"/>
              </a:spcBef>
              <a:spcAft>
                <a:spcPts val="0"/>
              </a:spcAft>
              <a:buNone/>
            </a:pPr>
            <a:r>
              <a:rPr lang="en" sz="1300" b="1">
                <a:solidFill>
                  <a:srgbClr val="000000"/>
                </a:solidFill>
                <a:latin typeface="Roboto"/>
                <a:ea typeface="Roboto"/>
                <a:cs typeface="Roboto"/>
                <a:sym typeface="Roboto"/>
              </a:rPr>
              <a:t>Future Pipeline Extensions:</a:t>
            </a:r>
            <a:endParaRPr sz="1300" b="1">
              <a:solidFill>
                <a:srgbClr val="000000"/>
              </a:solidFill>
              <a:latin typeface="Roboto"/>
              <a:ea typeface="Roboto"/>
              <a:cs typeface="Roboto"/>
              <a:sym typeface="Roboto"/>
            </a:endParaRPr>
          </a:p>
          <a:p>
            <a:pPr marL="457200" lvl="0" indent="-298450" algn="l" rtl="0">
              <a:spcBef>
                <a:spcPts val="1200"/>
              </a:spcBef>
              <a:spcAft>
                <a:spcPts val="0"/>
              </a:spcAft>
              <a:buClr>
                <a:srgbClr val="000000"/>
              </a:buClr>
              <a:buSzPts val="1100"/>
              <a:buFont typeface="Roboto"/>
              <a:buChar char="●"/>
            </a:pPr>
            <a:r>
              <a:rPr lang="en" sz="1100">
                <a:solidFill>
                  <a:srgbClr val="000000"/>
                </a:solidFill>
                <a:latin typeface="Roboto"/>
                <a:ea typeface="Roboto"/>
                <a:cs typeface="Roboto"/>
                <a:sym typeface="Roboto"/>
              </a:rPr>
              <a:t>Train models on Kaggle credit card fraud dataset</a:t>
            </a:r>
            <a:br>
              <a:rPr lang="en" sz="1100">
                <a:solidFill>
                  <a:srgbClr val="000000"/>
                </a:solidFill>
                <a:latin typeface="Roboto"/>
                <a:ea typeface="Roboto"/>
                <a:cs typeface="Roboto"/>
                <a:sym typeface="Roboto"/>
              </a:rPr>
            </a:br>
            <a:endParaRPr sz="1100">
              <a:solidFill>
                <a:srgbClr val="000000"/>
              </a:solidFill>
              <a:latin typeface="Roboto"/>
              <a:ea typeface="Roboto"/>
              <a:cs typeface="Roboto"/>
              <a:sym typeface="Roboto"/>
            </a:endParaRPr>
          </a:p>
          <a:p>
            <a:pPr marL="457200" lvl="0" indent="-298450" algn="l" rtl="0">
              <a:spcBef>
                <a:spcPts val="0"/>
              </a:spcBef>
              <a:spcAft>
                <a:spcPts val="0"/>
              </a:spcAft>
              <a:buClr>
                <a:srgbClr val="000000"/>
              </a:buClr>
              <a:buSzPts val="1100"/>
              <a:buFont typeface="Roboto"/>
              <a:buChar char="●"/>
            </a:pPr>
            <a:r>
              <a:rPr lang="en" sz="1100">
                <a:solidFill>
                  <a:srgbClr val="000000"/>
                </a:solidFill>
                <a:latin typeface="Roboto"/>
                <a:ea typeface="Roboto"/>
                <a:cs typeface="Roboto"/>
                <a:sym typeface="Roboto"/>
              </a:rPr>
              <a:t>Convert features from streaming data</a:t>
            </a:r>
            <a:br>
              <a:rPr lang="en" sz="1100">
                <a:solidFill>
                  <a:srgbClr val="000000"/>
                </a:solidFill>
                <a:latin typeface="Roboto"/>
                <a:ea typeface="Roboto"/>
                <a:cs typeface="Roboto"/>
                <a:sym typeface="Roboto"/>
              </a:rPr>
            </a:br>
            <a:endParaRPr sz="1100">
              <a:solidFill>
                <a:srgbClr val="000000"/>
              </a:solidFill>
              <a:latin typeface="Roboto"/>
              <a:ea typeface="Roboto"/>
              <a:cs typeface="Roboto"/>
              <a:sym typeface="Roboto"/>
            </a:endParaRPr>
          </a:p>
          <a:p>
            <a:pPr marL="457200" lvl="0" indent="-298450" algn="l" rtl="0">
              <a:spcBef>
                <a:spcPts val="0"/>
              </a:spcBef>
              <a:spcAft>
                <a:spcPts val="0"/>
              </a:spcAft>
              <a:buClr>
                <a:srgbClr val="000000"/>
              </a:buClr>
              <a:buSzPts val="1100"/>
              <a:buFont typeface="Roboto"/>
              <a:buChar char="●"/>
            </a:pPr>
            <a:r>
              <a:rPr lang="en" sz="1100">
                <a:solidFill>
                  <a:srgbClr val="000000"/>
                </a:solidFill>
                <a:latin typeface="Roboto"/>
                <a:ea typeface="Roboto"/>
                <a:cs typeface="Roboto"/>
                <a:sym typeface="Roboto"/>
              </a:rPr>
              <a:t>Deploy model via Lambda or SageMaker</a:t>
            </a:r>
            <a:br>
              <a:rPr lang="en" sz="1100">
                <a:solidFill>
                  <a:srgbClr val="000000"/>
                </a:solidFill>
                <a:latin typeface="Roboto"/>
                <a:ea typeface="Roboto"/>
                <a:cs typeface="Roboto"/>
                <a:sym typeface="Roboto"/>
              </a:rPr>
            </a:br>
            <a:endParaRPr sz="1100">
              <a:solidFill>
                <a:srgbClr val="000000"/>
              </a:solidFill>
              <a:latin typeface="Roboto"/>
              <a:ea typeface="Roboto"/>
              <a:cs typeface="Roboto"/>
              <a:sym typeface="Roboto"/>
            </a:endParaRPr>
          </a:p>
          <a:p>
            <a:pPr marL="457200" lvl="0" indent="-298450" algn="l" rtl="0">
              <a:spcBef>
                <a:spcPts val="0"/>
              </a:spcBef>
              <a:spcAft>
                <a:spcPts val="0"/>
              </a:spcAft>
              <a:buClr>
                <a:srgbClr val="000000"/>
              </a:buClr>
              <a:buSzPts val="1100"/>
              <a:buFont typeface="Roboto"/>
              <a:buChar char="●"/>
            </a:pPr>
            <a:r>
              <a:rPr lang="en" sz="1100">
                <a:solidFill>
                  <a:srgbClr val="000000"/>
                </a:solidFill>
                <a:latin typeface="Roboto"/>
                <a:ea typeface="Roboto"/>
                <a:cs typeface="Roboto"/>
                <a:sym typeface="Roboto"/>
              </a:rPr>
              <a:t>Real-time probability outputs (fraud likelihood %)</a:t>
            </a:r>
            <a:br>
              <a:rPr lang="en" sz="1100">
                <a:solidFill>
                  <a:srgbClr val="000000"/>
                </a:solidFill>
                <a:latin typeface="Roboto"/>
                <a:ea typeface="Roboto"/>
                <a:cs typeface="Roboto"/>
                <a:sym typeface="Roboto"/>
              </a:rPr>
            </a:br>
            <a:endParaRPr sz="1100">
              <a:solidFill>
                <a:srgbClr val="000000"/>
              </a:solidFill>
              <a:latin typeface="Roboto"/>
              <a:ea typeface="Roboto"/>
              <a:cs typeface="Roboto"/>
              <a:sym typeface="Roboto"/>
            </a:endParaRPr>
          </a:p>
          <a:p>
            <a:pPr marL="457200" lvl="0" indent="-298450" algn="l" rtl="0">
              <a:spcBef>
                <a:spcPts val="0"/>
              </a:spcBef>
              <a:spcAft>
                <a:spcPts val="0"/>
              </a:spcAft>
              <a:buClr>
                <a:srgbClr val="000000"/>
              </a:buClr>
              <a:buSzPts val="1100"/>
              <a:buFont typeface="Arial"/>
              <a:buChar char="●"/>
            </a:pPr>
            <a:r>
              <a:rPr lang="en" sz="1100">
                <a:solidFill>
                  <a:srgbClr val="000000"/>
                </a:solidFill>
                <a:latin typeface="Roboto"/>
                <a:ea typeface="Roboto"/>
                <a:cs typeface="Roboto"/>
                <a:sym typeface="Roboto"/>
              </a:rPr>
              <a:t>A/B testing with rule engine</a:t>
            </a:r>
            <a:br>
              <a:rPr lang="en" sz="1100">
                <a:solidFill>
                  <a:srgbClr val="000000"/>
                </a:solidFill>
                <a:latin typeface="Roboto"/>
                <a:ea typeface="Roboto"/>
                <a:cs typeface="Roboto"/>
                <a:sym typeface="Roboto"/>
              </a:rPr>
            </a:br>
            <a:r>
              <a:rPr lang="en" sz="1100">
                <a:solidFill>
                  <a:srgbClr val="000000"/>
                </a:solidFill>
                <a:latin typeface="Arial"/>
                <a:ea typeface="Arial"/>
                <a:cs typeface="Arial"/>
                <a:sym typeface="Arial"/>
              </a:rPr>
              <a:t/>
            </a:r>
            <a:br>
              <a:rPr lang="en" sz="1100">
                <a:solidFill>
                  <a:srgbClr val="000000"/>
                </a:solidFill>
                <a:latin typeface="Arial"/>
                <a:ea typeface="Arial"/>
                <a:cs typeface="Arial"/>
                <a:sym typeface="Arial"/>
              </a:rPr>
            </a:b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4"/>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2400"/>
              </a:spcBef>
              <a:spcAft>
                <a:spcPts val="600"/>
              </a:spcAft>
              <a:buNone/>
            </a:pPr>
            <a:r>
              <a:rPr lang="en" sz="2300" b="1">
                <a:solidFill>
                  <a:srgbClr val="000000"/>
                </a:solidFill>
                <a:latin typeface="Arial"/>
                <a:ea typeface="Arial"/>
                <a:cs typeface="Arial"/>
                <a:sym typeface="Arial"/>
              </a:rPr>
              <a:t>7. Security Considerations</a:t>
            </a:r>
            <a:endParaRPr/>
          </a:p>
        </p:txBody>
      </p:sp>
      <p:sp>
        <p:nvSpPr>
          <p:cNvPr id="267" name="Google Shape;267;p44"/>
          <p:cNvSpPr txBox="1">
            <a:spLocks noGrp="1"/>
          </p:cNvSpPr>
          <p:nvPr>
            <p:ph type="body" idx="1"/>
          </p:nvPr>
        </p:nvSpPr>
        <p:spPr>
          <a:xfrm>
            <a:off x="311700" y="562534"/>
            <a:ext cx="8520600" cy="3851100"/>
          </a:xfrm>
          <a:prstGeom prst="rect">
            <a:avLst/>
          </a:prstGeom>
        </p:spPr>
        <p:txBody>
          <a:bodyPr spcFirstLastPara="1" wrap="square" lIns="91425" tIns="91425" rIns="91425" bIns="91425" anchor="t" anchorCtr="0">
            <a:noAutofit/>
          </a:bodyPr>
          <a:lstStyle/>
          <a:p>
            <a:pPr marL="457200" lvl="0" indent="-304800" algn="l" rtl="0">
              <a:spcBef>
                <a:spcPts val="120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S3 website is public but contains </a:t>
            </a:r>
            <a:r>
              <a:rPr lang="en" sz="1200" b="1" dirty="0">
                <a:solidFill>
                  <a:srgbClr val="000000"/>
                </a:solidFill>
                <a:latin typeface="Roboto"/>
                <a:ea typeface="Roboto"/>
                <a:cs typeface="Roboto"/>
                <a:sym typeface="Roboto"/>
              </a:rPr>
              <a:t>no credentials or sensitive data</a:t>
            </a:r>
            <a:endParaRPr sz="1200" b="1"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All backend writes authenticated via IAM role</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SNS email masked (private endpoints)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DynamoDB data partitioned per user</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Least-privilege IAM policies assigned</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API Gateway only exposes read-only investigation endpoint</a:t>
            </a:r>
            <a:endParaRPr sz="1200" dirty="0">
              <a:solidFill>
                <a:srgbClr val="000000"/>
              </a:solidFill>
              <a:latin typeface="Roboto"/>
              <a:ea typeface="Roboto"/>
              <a:cs typeface="Roboto"/>
              <a:sym typeface="Roboto"/>
            </a:endParaRPr>
          </a:p>
          <a:p>
            <a:pPr marL="0" lvl="0" indent="0" algn="l" rtl="0">
              <a:spcBef>
                <a:spcPts val="2400"/>
              </a:spcBef>
              <a:spcAft>
                <a:spcPts val="0"/>
              </a:spcAft>
              <a:buNone/>
            </a:pPr>
            <a:r>
              <a:rPr lang="en" sz="2300" b="1" dirty="0">
                <a:solidFill>
                  <a:srgbClr val="000000"/>
                </a:solidFill>
                <a:latin typeface="Roboto"/>
                <a:ea typeface="Roboto"/>
                <a:cs typeface="Roboto"/>
                <a:sym typeface="Roboto"/>
              </a:rPr>
              <a:t>8. Learnings &amp; Challenges Solved</a:t>
            </a:r>
            <a:endParaRPr sz="2300" b="1" dirty="0">
              <a:solidFill>
                <a:srgbClr val="000000"/>
              </a:solidFill>
              <a:latin typeface="Roboto"/>
              <a:ea typeface="Roboto"/>
              <a:cs typeface="Roboto"/>
              <a:sym typeface="Roboto"/>
            </a:endParaRPr>
          </a:p>
          <a:p>
            <a:pPr marL="0" lvl="0" indent="0" algn="l" rtl="0">
              <a:spcBef>
                <a:spcPts val="1400"/>
              </a:spcBef>
              <a:spcAft>
                <a:spcPts val="0"/>
              </a:spcAft>
              <a:buNone/>
            </a:pPr>
            <a:r>
              <a:rPr lang="en" sz="1400" b="1" dirty="0">
                <a:solidFill>
                  <a:srgbClr val="000000"/>
                </a:solidFill>
                <a:latin typeface="Roboto"/>
                <a:ea typeface="Roboto"/>
                <a:cs typeface="Roboto"/>
                <a:sym typeface="Roboto"/>
              </a:rPr>
              <a:t>Key Takeaways:</a:t>
            </a:r>
            <a:endParaRPr sz="1400" b="1" dirty="0">
              <a:solidFill>
                <a:srgbClr val="000000"/>
              </a:solidFill>
              <a:latin typeface="Roboto"/>
              <a:ea typeface="Roboto"/>
              <a:cs typeface="Roboto"/>
              <a:sym typeface="Roboto"/>
            </a:endParaRPr>
          </a:p>
          <a:p>
            <a:pPr marL="457200" lvl="0" indent="-304800" algn="l" rtl="0">
              <a:spcBef>
                <a:spcPts val="120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Handling DynamoDB Decimal types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Understanding Lambda → SQS → Lambda async patterns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Designing PK/SK + GSI for investigative query patterns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Implementing distributed tracing for serverless apps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Decoupling ingestion from scoring</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Making S3 static sites interact securely with API Gateway</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Handling CORS</a:t>
            </a:r>
            <a:endParaRPr sz="1200" dirty="0">
              <a:solidFill>
                <a:srgbClr val="000000"/>
              </a:solidFill>
              <a:latin typeface="Roboto"/>
              <a:ea typeface="Roboto"/>
              <a:cs typeface="Roboto"/>
              <a:sym typeface="Roboto"/>
            </a:endParaRPr>
          </a:p>
          <a:p>
            <a:pPr marL="457200" lvl="0" indent="-304800" algn="l" rtl="0">
              <a:spcBef>
                <a:spcPts val="0"/>
              </a:spcBef>
              <a:spcAft>
                <a:spcPts val="0"/>
              </a:spcAft>
              <a:buClr>
                <a:srgbClr val="000000"/>
              </a:buClr>
              <a:buSzPts val="1200"/>
              <a:buFont typeface="Roboto"/>
              <a:buChar char="●"/>
            </a:pPr>
            <a:r>
              <a:rPr lang="en" sz="1200" dirty="0">
                <a:solidFill>
                  <a:srgbClr val="000000"/>
                </a:solidFill>
                <a:latin typeface="Roboto"/>
                <a:ea typeface="Roboto"/>
                <a:cs typeface="Roboto"/>
                <a:sym typeface="Roboto"/>
              </a:rPr>
              <a:t>Observing real-time fraud signals in metrics</a:t>
            </a:r>
            <a:endParaRPr sz="1200" dirty="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5"/>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200"/>
              <a:t>Data &amp; Modeling Challenges</a:t>
            </a:r>
            <a:endParaRPr/>
          </a:p>
        </p:txBody>
      </p:sp>
      <p:sp>
        <p:nvSpPr>
          <p:cNvPr id="273" name="Google Shape;273;p45"/>
          <p:cNvSpPr txBox="1">
            <a:spLocks noGrp="1"/>
          </p:cNvSpPr>
          <p:nvPr>
            <p:ph type="subTitle" idx="2"/>
          </p:nvPr>
        </p:nvSpPr>
        <p:spPr>
          <a:xfrm>
            <a:off x="311700" y="712925"/>
            <a:ext cx="8520600" cy="642600"/>
          </a:xfrm>
          <a:prstGeom prst="rect">
            <a:avLst/>
          </a:prstGeom>
          <a:noFill/>
          <a:ln>
            <a:noFill/>
          </a:ln>
        </p:spPr>
        <p:txBody>
          <a:bodyPr spcFirstLastPara="1" wrap="square" lIns="91425" tIns="0" rIns="91425" bIns="91425" anchor="t" anchorCtr="0">
            <a:noAutofit/>
          </a:bodyPr>
          <a:lstStyle/>
          <a:p>
            <a:pPr marL="0" lvl="0" indent="0" algn="l" rtl="0">
              <a:lnSpc>
                <a:spcPct val="80000"/>
              </a:lnSpc>
              <a:spcBef>
                <a:spcPts val="0"/>
              </a:spcBef>
              <a:spcAft>
                <a:spcPts val="0"/>
              </a:spcAft>
              <a:buSzPts val="1800"/>
              <a:buNone/>
            </a:pPr>
            <a:r>
              <a:rPr lang="en" sz="1200"/>
              <a:t>Effective fraud detection depends on data quality. We faced several challenges: synthetic datasets lacked behavioral richness, PCA-obscured real-world data limited interpretability, and extreme class imbalance distorted training. To address this, we used SMOTE and undersampling techniques, and evaluated various models including logistic regression, SVM, and gradient boosting to balance performance with explainability.</a:t>
            </a:r>
            <a:endParaRPr sz="1200"/>
          </a:p>
        </p:txBody>
      </p:sp>
      <p:sp>
        <p:nvSpPr>
          <p:cNvPr id="274" name="Google Shape;274;p45"/>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5" name="Google Shape;275;p45"/>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6" name="Google Shape;276;p45"/>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7" name="Google Shape;277;p45"/>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8" name="Google Shape;278;p45"/>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9" name="Google Shape;279;p45"/>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0" name="Google Shape;280;p45"/>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1" name="Google Shape;281;p45"/>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2" name="Google Shape;282;p45"/>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3" name="Google Shape;283;p45"/>
          <p:cNvSpPr/>
          <p:nvPr/>
        </p:nvSpPr>
        <p:spPr>
          <a:xfrm>
            <a:off x="216217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4" name="Google Shape;284;p45"/>
          <p:cNvSpPr txBox="1"/>
          <p:nvPr/>
        </p:nvSpPr>
        <p:spPr>
          <a:xfrm>
            <a:off x="216217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85" name="Google Shape;285;p45" descr="tmpra81e1fc.png"/>
          <p:cNvPicPr preferRelativeResize="0"/>
          <p:nvPr/>
        </p:nvPicPr>
        <p:blipFill rotWithShape="1">
          <a:blip r:embed="rId3">
            <a:alphaModFix/>
          </a:blip>
          <a:srcRect/>
          <a:stretch/>
        </p:blipFill>
        <p:spPr>
          <a:xfrm>
            <a:off x="2162175" y="1508670"/>
            <a:ext cx="304800" cy="304800"/>
          </a:xfrm>
          <a:prstGeom prst="rect">
            <a:avLst/>
          </a:prstGeom>
          <a:noFill/>
          <a:ln>
            <a:noFill/>
          </a:ln>
        </p:spPr>
      </p:pic>
      <p:sp>
        <p:nvSpPr>
          <p:cNvPr id="286" name="Google Shape;286;p45"/>
          <p:cNvSpPr txBox="1"/>
          <p:nvPr/>
        </p:nvSpPr>
        <p:spPr>
          <a:xfrm>
            <a:off x="22860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Poor Accuracy with Synthetic Data</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Initial datasets generated ~60% accuracy, demonstrating limited feature realism and lacking behavioral diversity.</a:t>
            </a:r>
            <a:endParaRPr/>
          </a:p>
        </p:txBody>
      </p:sp>
      <p:sp>
        <p:nvSpPr>
          <p:cNvPr id="287" name="Google Shape;287;p45"/>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8" name="Google Shape;288;p45"/>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9" name="Google Shape;289;p45"/>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0" name="Google Shape;290;p45"/>
          <p:cNvSpPr/>
          <p:nvPr/>
        </p:nvSpPr>
        <p:spPr>
          <a:xfrm>
            <a:off x="652462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1" name="Google Shape;291;p45"/>
          <p:cNvSpPr txBox="1"/>
          <p:nvPr/>
        </p:nvSpPr>
        <p:spPr>
          <a:xfrm>
            <a:off x="652462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2" name="Google Shape;292;p45" descr="tmpinvzpjok.png"/>
          <p:cNvPicPr preferRelativeResize="0"/>
          <p:nvPr/>
        </p:nvPicPr>
        <p:blipFill rotWithShape="1">
          <a:blip r:embed="rId4">
            <a:alphaModFix/>
          </a:blip>
          <a:srcRect/>
          <a:stretch/>
        </p:blipFill>
        <p:spPr>
          <a:xfrm>
            <a:off x="6524625" y="1508670"/>
            <a:ext cx="304800" cy="304800"/>
          </a:xfrm>
          <a:prstGeom prst="rect">
            <a:avLst/>
          </a:prstGeom>
          <a:noFill/>
          <a:ln>
            <a:noFill/>
          </a:ln>
        </p:spPr>
      </p:pic>
      <p:sp>
        <p:nvSpPr>
          <p:cNvPr id="293" name="Google Shape;293;p45"/>
          <p:cNvSpPr txBox="1"/>
          <p:nvPr/>
        </p:nvSpPr>
        <p:spPr>
          <a:xfrm>
            <a:off x="459105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Obscured Real-World Datasets</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Datasets with PCA applied hid true relationships between features, obstructing explainable ML modeling.</a:t>
            </a:r>
            <a:endParaRPr/>
          </a:p>
        </p:txBody>
      </p:sp>
      <p:sp>
        <p:nvSpPr>
          <p:cNvPr id="294" name="Google Shape;294;p45"/>
          <p:cNvSpPr/>
          <p:nvPr/>
        </p:nvSpPr>
        <p:spPr>
          <a:xfrm>
            <a:off x="228600" y="3276153"/>
            <a:ext cx="4171950" cy="157698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5" name="Google Shape;295;p45"/>
          <p:cNvSpPr/>
          <p:nvPr/>
        </p:nvSpPr>
        <p:spPr>
          <a:xfrm>
            <a:off x="22860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6" name="Google Shape;296;p45"/>
          <p:cNvSpPr/>
          <p:nvPr/>
        </p:nvSpPr>
        <p:spPr>
          <a:xfrm>
            <a:off x="22860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7" name="Google Shape;297;p45"/>
          <p:cNvSpPr/>
          <p:nvPr/>
        </p:nvSpPr>
        <p:spPr>
          <a:xfrm>
            <a:off x="2162175" y="327615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8" name="Google Shape;298;p45"/>
          <p:cNvSpPr txBox="1"/>
          <p:nvPr/>
        </p:nvSpPr>
        <p:spPr>
          <a:xfrm>
            <a:off x="2162175" y="327615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9" name="Google Shape;299;p45" descr="tmphguj9sga.png"/>
          <p:cNvPicPr preferRelativeResize="0"/>
          <p:nvPr/>
        </p:nvPicPr>
        <p:blipFill rotWithShape="1">
          <a:blip r:embed="rId5">
            <a:alphaModFix/>
          </a:blip>
          <a:srcRect/>
          <a:stretch/>
        </p:blipFill>
        <p:spPr>
          <a:xfrm>
            <a:off x="2162175" y="3276153"/>
            <a:ext cx="304800" cy="304800"/>
          </a:xfrm>
          <a:prstGeom prst="rect">
            <a:avLst/>
          </a:prstGeom>
          <a:noFill/>
          <a:ln>
            <a:noFill/>
          </a:ln>
        </p:spPr>
      </p:pic>
      <p:sp>
        <p:nvSpPr>
          <p:cNvPr id="300" name="Google Shape;300;p45"/>
          <p:cNvSpPr txBox="1"/>
          <p:nvPr/>
        </p:nvSpPr>
        <p:spPr>
          <a:xfrm>
            <a:off x="228600" y="369525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Heavy Imbalance in Fraud Labels</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Fraudulent transactions often &lt;1% of total; required SMOTE and undersampling to rebalance data.</a:t>
            </a:r>
            <a:endParaRPr/>
          </a:p>
        </p:txBody>
      </p:sp>
      <p:sp>
        <p:nvSpPr>
          <p:cNvPr id="301" name="Google Shape;301;p45"/>
          <p:cNvSpPr/>
          <p:nvPr/>
        </p:nvSpPr>
        <p:spPr>
          <a:xfrm>
            <a:off x="4591050" y="3276153"/>
            <a:ext cx="4171950" cy="157698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2" name="Google Shape;302;p45"/>
          <p:cNvSpPr/>
          <p:nvPr/>
        </p:nvSpPr>
        <p:spPr>
          <a:xfrm>
            <a:off x="459105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3" name="Google Shape;303;p45"/>
          <p:cNvSpPr/>
          <p:nvPr/>
        </p:nvSpPr>
        <p:spPr>
          <a:xfrm>
            <a:off x="459105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4" name="Google Shape;304;p45"/>
          <p:cNvSpPr/>
          <p:nvPr/>
        </p:nvSpPr>
        <p:spPr>
          <a:xfrm>
            <a:off x="6524625" y="327615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5" name="Google Shape;305;p45"/>
          <p:cNvSpPr txBox="1"/>
          <p:nvPr/>
        </p:nvSpPr>
        <p:spPr>
          <a:xfrm>
            <a:off x="6524625" y="327615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06" name="Google Shape;306;p45" descr="tmp7gzuee95.png"/>
          <p:cNvPicPr preferRelativeResize="0"/>
          <p:nvPr/>
        </p:nvPicPr>
        <p:blipFill rotWithShape="1">
          <a:blip r:embed="rId6">
            <a:alphaModFix/>
          </a:blip>
          <a:srcRect/>
          <a:stretch/>
        </p:blipFill>
        <p:spPr>
          <a:xfrm>
            <a:off x="6524625" y="3276153"/>
            <a:ext cx="304800" cy="304800"/>
          </a:xfrm>
          <a:prstGeom prst="rect">
            <a:avLst/>
          </a:prstGeom>
          <a:noFill/>
          <a:ln>
            <a:noFill/>
          </a:ln>
        </p:spPr>
      </p:pic>
      <p:sp>
        <p:nvSpPr>
          <p:cNvPr id="307" name="Google Shape;307;p45"/>
          <p:cNvSpPr txBox="1"/>
          <p:nvPr/>
        </p:nvSpPr>
        <p:spPr>
          <a:xfrm>
            <a:off x="4591050" y="369525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Model Selection Strategy</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Explored logistic regression, SVM, and gradient boosting for interpretability and performance on updated datasets.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6"/>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a:t>AWS Implementation &amp; Alerting Flow</a:t>
            </a:r>
            <a:endParaRPr/>
          </a:p>
        </p:txBody>
      </p:sp>
      <p:sp>
        <p:nvSpPr>
          <p:cNvPr id="313" name="Google Shape;313;p46"/>
          <p:cNvSpPr txBox="1">
            <a:spLocks noGrp="1"/>
          </p:cNvSpPr>
          <p:nvPr>
            <p:ph type="subTitle" idx="2"/>
          </p:nvPr>
        </p:nvSpPr>
        <p:spPr>
          <a:xfrm>
            <a:off x="311700" y="766725"/>
            <a:ext cx="8520600" cy="432600"/>
          </a:xfrm>
          <a:prstGeom prst="rect">
            <a:avLst/>
          </a:prstGeom>
          <a:noFill/>
          <a:ln>
            <a:noFill/>
          </a:ln>
        </p:spPr>
        <p:txBody>
          <a:bodyPr spcFirstLastPara="1" wrap="square" lIns="91425" tIns="0" rIns="91425" bIns="91425" anchor="t" anchorCtr="0">
            <a:noAutofit/>
          </a:bodyPr>
          <a:lstStyle/>
          <a:p>
            <a:pPr marL="0" lvl="0" indent="0" algn="l" rtl="0">
              <a:lnSpc>
                <a:spcPct val="80000"/>
              </a:lnSpc>
              <a:spcBef>
                <a:spcPts val="0"/>
              </a:spcBef>
              <a:spcAft>
                <a:spcPts val="0"/>
              </a:spcAft>
              <a:buSzPts val="1800"/>
              <a:buNone/>
            </a:pPr>
            <a:r>
              <a:rPr lang="en" sz="1200"/>
              <a:t>The Lambda scoring function ingests messages, applies risk logic, and updates fraud state in DynamoDB. High-risk cases trigger SNS alerts for real-time response. All events are logged to support audit trails, model refinement, and long-term fraud trend analysis.</a:t>
            </a:r>
            <a:endParaRPr sz="1200"/>
          </a:p>
        </p:txBody>
      </p:sp>
      <p:sp>
        <p:nvSpPr>
          <p:cNvPr id="314" name="Google Shape;314;p46"/>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5" name="Google Shape;315;p46"/>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6" name="Google Shape;316;p46"/>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7" name="Google Shape;317;p46"/>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8" name="Google Shape;318;p46"/>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19" name="Google Shape;319;p46"/>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0" name="Google Shape;320;p46"/>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1" name="Google Shape;321;p46"/>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2" name="Google Shape;322;p46"/>
          <p:cNvSpPr/>
          <p:nvPr/>
        </p:nvSpPr>
        <p:spPr>
          <a:xfrm>
            <a:off x="22860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3" name="Google Shape;323;p46"/>
          <p:cNvSpPr/>
          <p:nvPr/>
        </p:nvSpPr>
        <p:spPr>
          <a:xfrm>
            <a:off x="216217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4" name="Google Shape;324;p46"/>
          <p:cNvSpPr txBox="1"/>
          <p:nvPr/>
        </p:nvSpPr>
        <p:spPr>
          <a:xfrm>
            <a:off x="216217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25" name="Google Shape;325;p46" descr="tmpe14or6il.png"/>
          <p:cNvPicPr preferRelativeResize="0"/>
          <p:nvPr/>
        </p:nvPicPr>
        <p:blipFill rotWithShape="1">
          <a:blip r:embed="rId3">
            <a:alphaModFix/>
          </a:blip>
          <a:srcRect/>
          <a:stretch/>
        </p:blipFill>
        <p:spPr>
          <a:xfrm>
            <a:off x="2162175" y="1508670"/>
            <a:ext cx="304800" cy="304800"/>
          </a:xfrm>
          <a:prstGeom prst="rect">
            <a:avLst/>
          </a:prstGeom>
          <a:noFill/>
          <a:ln>
            <a:noFill/>
          </a:ln>
        </p:spPr>
      </p:pic>
      <p:sp>
        <p:nvSpPr>
          <p:cNvPr id="326" name="Google Shape;326;p46"/>
          <p:cNvSpPr txBox="1"/>
          <p:nvPr/>
        </p:nvSpPr>
        <p:spPr>
          <a:xfrm>
            <a:off x="22860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Lambda Scoring Function</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Consumes SQS messages, calculates rolling Z-scores and applies rule-based checks to assess transaction risk.</a:t>
            </a:r>
            <a:endParaRPr/>
          </a:p>
        </p:txBody>
      </p:sp>
      <p:sp>
        <p:nvSpPr>
          <p:cNvPr id="327" name="Google Shape;327;p46"/>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8" name="Google Shape;328;p46"/>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29" name="Google Shape;329;p46"/>
          <p:cNvSpPr/>
          <p:nvPr/>
        </p:nvSpPr>
        <p:spPr>
          <a:xfrm>
            <a:off x="4591050" y="1508670"/>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0" name="Google Shape;330;p46"/>
          <p:cNvSpPr/>
          <p:nvPr/>
        </p:nvSpPr>
        <p:spPr>
          <a:xfrm>
            <a:off x="652462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1" name="Google Shape;331;p46"/>
          <p:cNvSpPr txBox="1"/>
          <p:nvPr/>
        </p:nvSpPr>
        <p:spPr>
          <a:xfrm>
            <a:off x="652462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32" name="Google Shape;332;p46" descr="tmppho5rbc9.png"/>
          <p:cNvPicPr preferRelativeResize="0"/>
          <p:nvPr/>
        </p:nvPicPr>
        <p:blipFill rotWithShape="1">
          <a:blip r:embed="rId4">
            <a:alphaModFix/>
          </a:blip>
          <a:srcRect/>
          <a:stretch/>
        </p:blipFill>
        <p:spPr>
          <a:xfrm>
            <a:off x="6524625" y="1508670"/>
            <a:ext cx="304800" cy="304800"/>
          </a:xfrm>
          <a:prstGeom prst="rect">
            <a:avLst/>
          </a:prstGeom>
          <a:noFill/>
          <a:ln>
            <a:noFill/>
          </a:ln>
        </p:spPr>
      </p:pic>
      <p:sp>
        <p:nvSpPr>
          <p:cNvPr id="333" name="Google Shape;333;p46"/>
          <p:cNvSpPr txBox="1"/>
          <p:nvPr/>
        </p:nvSpPr>
        <p:spPr>
          <a:xfrm>
            <a:off x="459105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Fraud Flag &amp; State Update</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Transactions exceeding risk thresholds are flagged; fraud status and metadata are recorded in DynamoDB.</a:t>
            </a:r>
            <a:endParaRPr/>
          </a:p>
        </p:txBody>
      </p:sp>
      <p:sp>
        <p:nvSpPr>
          <p:cNvPr id="334" name="Google Shape;334;p46"/>
          <p:cNvSpPr/>
          <p:nvPr/>
        </p:nvSpPr>
        <p:spPr>
          <a:xfrm>
            <a:off x="228600" y="3276153"/>
            <a:ext cx="4171950" cy="157698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5" name="Google Shape;335;p46"/>
          <p:cNvSpPr/>
          <p:nvPr/>
        </p:nvSpPr>
        <p:spPr>
          <a:xfrm>
            <a:off x="22860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6" name="Google Shape;336;p46"/>
          <p:cNvSpPr/>
          <p:nvPr/>
        </p:nvSpPr>
        <p:spPr>
          <a:xfrm>
            <a:off x="22860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7" name="Google Shape;337;p46"/>
          <p:cNvSpPr/>
          <p:nvPr/>
        </p:nvSpPr>
        <p:spPr>
          <a:xfrm>
            <a:off x="2162175" y="327615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38" name="Google Shape;338;p46"/>
          <p:cNvSpPr txBox="1"/>
          <p:nvPr/>
        </p:nvSpPr>
        <p:spPr>
          <a:xfrm>
            <a:off x="2162175" y="327615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39" name="Google Shape;339;p46" descr="tmpljv19euc.png"/>
          <p:cNvPicPr preferRelativeResize="0"/>
          <p:nvPr/>
        </p:nvPicPr>
        <p:blipFill rotWithShape="1">
          <a:blip r:embed="rId5">
            <a:alphaModFix/>
          </a:blip>
          <a:srcRect/>
          <a:stretch/>
        </p:blipFill>
        <p:spPr>
          <a:xfrm>
            <a:off x="2162175" y="3276153"/>
            <a:ext cx="304800" cy="304800"/>
          </a:xfrm>
          <a:prstGeom prst="rect">
            <a:avLst/>
          </a:prstGeom>
          <a:noFill/>
          <a:ln>
            <a:noFill/>
          </a:ln>
        </p:spPr>
      </p:pic>
      <p:sp>
        <p:nvSpPr>
          <p:cNvPr id="340" name="Google Shape;340;p46"/>
          <p:cNvSpPr txBox="1"/>
          <p:nvPr/>
        </p:nvSpPr>
        <p:spPr>
          <a:xfrm>
            <a:off x="228600" y="369525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Immediate Alert via SNS</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High-risk events trigger SNS alerts to notify stakeholders or downstream systems, enabling immediate response.</a:t>
            </a:r>
            <a:endParaRPr/>
          </a:p>
        </p:txBody>
      </p:sp>
      <p:sp>
        <p:nvSpPr>
          <p:cNvPr id="341" name="Google Shape;341;p46"/>
          <p:cNvSpPr/>
          <p:nvPr/>
        </p:nvSpPr>
        <p:spPr>
          <a:xfrm>
            <a:off x="4591050" y="3276153"/>
            <a:ext cx="4171950" cy="157698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2" name="Google Shape;342;p46"/>
          <p:cNvSpPr/>
          <p:nvPr/>
        </p:nvSpPr>
        <p:spPr>
          <a:xfrm>
            <a:off x="459105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3" name="Google Shape;343;p46"/>
          <p:cNvSpPr/>
          <p:nvPr/>
        </p:nvSpPr>
        <p:spPr>
          <a:xfrm>
            <a:off x="4591050" y="3276153"/>
            <a:ext cx="4171950" cy="15766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4" name="Google Shape;344;p46"/>
          <p:cNvSpPr/>
          <p:nvPr/>
        </p:nvSpPr>
        <p:spPr>
          <a:xfrm>
            <a:off x="6524625" y="327615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45" name="Google Shape;345;p46"/>
          <p:cNvSpPr txBox="1"/>
          <p:nvPr/>
        </p:nvSpPr>
        <p:spPr>
          <a:xfrm>
            <a:off x="6524625" y="327615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46" name="Google Shape;346;p46" descr="tmpfpmowc2y.png"/>
          <p:cNvPicPr preferRelativeResize="0"/>
          <p:nvPr/>
        </p:nvPicPr>
        <p:blipFill rotWithShape="1">
          <a:blip r:embed="rId6">
            <a:alphaModFix/>
          </a:blip>
          <a:srcRect/>
          <a:stretch/>
        </p:blipFill>
        <p:spPr>
          <a:xfrm>
            <a:off x="6524625" y="3276153"/>
            <a:ext cx="304800" cy="304800"/>
          </a:xfrm>
          <a:prstGeom prst="rect">
            <a:avLst/>
          </a:prstGeom>
          <a:noFill/>
          <a:ln>
            <a:noFill/>
          </a:ln>
        </p:spPr>
      </p:pic>
      <p:sp>
        <p:nvSpPr>
          <p:cNvPr id="347" name="Google Shape;347;p46"/>
          <p:cNvSpPr txBox="1"/>
          <p:nvPr/>
        </p:nvSpPr>
        <p:spPr>
          <a:xfrm>
            <a:off x="4591050" y="369525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Audit Trail &amp; Persistence</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All transactions—flagged or normal—are stored for historical analysis, model tuning, and fraud investigations.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7"/>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sz="2200"/>
              <a:t>Implementation Hurdles &amp; Debugging</a:t>
            </a:r>
            <a:endParaRPr/>
          </a:p>
        </p:txBody>
      </p:sp>
      <p:sp>
        <p:nvSpPr>
          <p:cNvPr id="353" name="Google Shape;353;p47"/>
          <p:cNvSpPr txBox="1">
            <a:spLocks noGrp="1"/>
          </p:cNvSpPr>
          <p:nvPr>
            <p:ph type="subTitle" idx="2"/>
          </p:nvPr>
        </p:nvSpPr>
        <p:spPr>
          <a:xfrm>
            <a:off x="311699" y="712926"/>
            <a:ext cx="8520599" cy="481810"/>
          </a:xfrm>
          <a:prstGeom prst="rect">
            <a:avLst/>
          </a:prstGeom>
          <a:noFill/>
          <a:ln>
            <a:noFill/>
          </a:ln>
        </p:spPr>
        <p:txBody>
          <a:bodyPr spcFirstLastPara="1" wrap="square" lIns="91425" tIns="0" rIns="91425" bIns="91425" anchor="t" anchorCtr="0">
            <a:noAutofit/>
          </a:bodyPr>
          <a:lstStyle/>
          <a:p>
            <a:pPr marL="0" lvl="0" indent="0" algn="l" rtl="0">
              <a:lnSpc>
                <a:spcPct val="80000"/>
              </a:lnSpc>
              <a:spcBef>
                <a:spcPts val="0"/>
              </a:spcBef>
              <a:spcAft>
                <a:spcPts val="0"/>
              </a:spcAft>
              <a:buSzPts val="1800"/>
              <a:buNone/>
            </a:pPr>
            <a:r>
              <a:rPr lang="en" sz="1200"/>
              <a:t>IAM permission errors required careful policy tuning, and Lambda misconfigurations caused early failures. On the data side, imbalanced labels and poor-quality features impacted model training. Addressing these issues sharpened our understanding of cloud security, data engineering, and real-time system design.</a:t>
            </a:r>
            <a:endParaRPr sz="1200"/>
          </a:p>
        </p:txBody>
      </p:sp>
      <p:sp>
        <p:nvSpPr>
          <p:cNvPr id="354" name="Google Shape;354;p47"/>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5" name="Google Shape;355;p47"/>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6" name="Google Shape;356;p47"/>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7" name="Google Shape;357;p47"/>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8" name="Google Shape;358;p47"/>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59" name="Google Shape;359;p47"/>
          <p:cNvSpPr/>
          <p:nvPr/>
        </p:nvSpPr>
        <p:spPr>
          <a:xfrm>
            <a:off x="228600" y="1508670"/>
            <a:ext cx="4172694"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0" name="Google Shape;360;p47"/>
          <p:cNvSpPr txBox="1"/>
          <p:nvPr/>
        </p:nvSpPr>
        <p:spPr>
          <a:xfrm>
            <a:off x="228600" y="1508675"/>
            <a:ext cx="4262400" cy="3424800"/>
          </a:xfrm>
          <a:prstGeom prst="rect">
            <a:avLst/>
          </a:prstGeom>
          <a:noFill/>
          <a:ln>
            <a:noFill/>
          </a:ln>
        </p:spPr>
        <p:txBody>
          <a:bodyPr spcFirstLastPara="1" wrap="square" lIns="165100" tIns="0" rIns="0" bIns="190500" anchor="t" anchorCtr="0">
            <a:spAutoFit/>
          </a:bodyPr>
          <a:lstStyle/>
          <a:p>
            <a:pPr marL="422910" marR="0" lvl="0" indent="-287514"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Data Access &amp; Privacy Limitations:</a:t>
            </a:r>
            <a:r>
              <a:rPr lang="en" b="0" i="0" u="none" strike="noStrike" cap="none">
                <a:solidFill>
                  <a:srgbClr val="1F2728"/>
                </a:solidFill>
                <a:latin typeface="Roboto"/>
                <a:ea typeface="Roboto"/>
                <a:cs typeface="Roboto"/>
                <a:sym typeface="Roboto"/>
              </a:rPr>
              <a:t> Many datasets were either overly synthetic or anonymized via PCA, limiting model interpretability and learning.</a:t>
            </a:r>
            <a:endParaRPr b="0" i="0" u="none" strike="noStrike" cap="none">
              <a:solidFill>
                <a:srgbClr val="1F2728"/>
              </a:solidFill>
              <a:latin typeface="Roboto"/>
              <a:ea typeface="Roboto"/>
              <a:cs typeface="Roboto"/>
              <a:sym typeface="Roboto"/>
            </a:endParaRPr>
          </a:p>
          <a:p>
            <a:pPr marL="422910" marR="0" lvl="0" indent="-287514"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Class Imbalance Issues:</a:t>
            </a:r>
            <a:r>
              <a:rPr lang="en" b="0" i="0" u="none" strike="noStrike" cap="none">
                <a:solidFill>
                  <a:srgbClr val="1F2728"/>
                </a:solidFill>
                <a:latin typeface="Roboto"/>
                <a:ea typeface="Roboto"/>
                <a:cs typeface="Roboto"/>
                <a:sym typeface="Roboto"/>
              </a:rPr>
              <a:t> Needed to apply SMOTE and sampling techniques to address imbalance; most data was ~99% non-fraudulent.</a:t>
            </a:r>
            <a:endParaRPr b="0" i="0" u="none" strike="noStrike" cap="none">
              <a:solidFill>
                <a:srgbClr val="1F2728"/>
              </a:solidFill>
              <a:latin typeface="Roboto"/>
              <a:ea typeface="Roboto"/>
              <a:cs typeface="Roboto"/>
              <a:sym typeface="Roboto"/>
            </a:endParaRPr>
          </a:p>
          <a:p>
            <a:pPr marL="422910" marR="0" lvl="0" indent="-287514"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AWS IAM Policy Errors:</a:t>
            </a:r>
            <a:r>
              <a:rPr lang="en" b="0" i="0" u="none" strike="noStrike" cap="none">
                <a:solidFill>
                  <a:srgbClr val="1F2728"/>
                </a:solidFill>
                <a:latin typeface="Roboto"/>
                <a:ea typeface="Roboto"/>
                <a:cs typeface="Roboto"/>
                <a:sym typeface="Roboto"/>
              </a:rPr>
              <a:t> Faced AccessDenied errors for SQS actions; resolved via manual inline policies referencing correct ARNs.</a:t>
            </a:r>
            <a:endParaRPr b="0" i="0" u="none" strike="noStrike" cap="none">
              <a:solidFill>
                <a:srgbClr val="1F2728"/>
              </a:solidFill>
              <a:latin typeface="Roboto"/>
              <a:ea typeface="Roboto"/>
              <a:cs typeface="Roboto"/>
              <a:sym typeface="Roboto"/>
            </a:endParaRPr>
          </a:p>
          <a:p>
            <a:pPr marL="422910" marR="0" lvl="0" indent="-287514" algn="l" rtl="0">
              <a:lnSpc>
                <a:spcPct val="100000"/>
              </a:lnSpc>
              <a:spcBef>
                <a:spcPts val="0"/>
              </a:spcBef>
              <a:spcAft>
                <a:spcPts val="0"/>
              </a:spcAft>
              <a:buClr>
                <a:srgbClr val="000000"/>
              </a:buClr>
              <a:buSzPts val="1400"/>
              <a:buFont typeface="Arial"/>
              <a:buChar char="•"/>
            </a:pPr>
            <a:r>
              <a:rPr lang="en" b="1" i="0" u="none" strike="noStrike" cap="none">
                <a:solidFill>
                  <a:srgbClr val="1F2728"/>
                </a:solidFill>
                <a:latin typeface="Roboto"/>
                <a:ea typeface="Roboto"/>
                <a:cs typeface="Roboto"/>
                <a:sym typeface="Roboto"/>
              </a:rPr>
              <a:t>Lambda Env Misconfiguration:</a:t>
            </a:r>
            <a:r>
              <a:rPr lang="en" b="0" i="0" u="none" strike="noStrike" cap="none">
                <a:solidFill>
                  <a:srgbClr val="1F2728"/>
                </a:solidFill>
                <a:latin typeface="Roboto"/>
                <a:ea typeface="Roboto"/>
                <a:cs typeface="Roboto"/>
                <a:sym typeface="Roboto"/>
              </a:rPr>
              <a:t> Mismatched environment variables (e.g., QUEUE_URL) led to downstream failures in transaction processing.</a:t>
            </a:r>
            <a:endParaRPr/>
          </a:p>
        </p:txBody>
      </p:sp>
      <p:sp>
        <p:nvSpPr>
          <p:cNvPr id="361" name="Google Shape;361;p47"/>
          <p:cNvSpPr/>
          <p:nvPr/>
        </p:nvSpPr>
        <p:spPr>
          <a:xfrm>
            <a:off x="4589710" y="1508670"/>
            <a:ext cx="4173140" cy="2595711"/>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2" name="Google Shape;362;p47"/>
          <p:cNvSpPr/>
          <p:nvPr/>
        </p:nvSpPr>
        <p:spPr>
          <a:xfrm>
            <a:off x="4589710" y="1508670"/>
            <a:ext cx="4173140" cy="2595711"/>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63" name="Google Shape;363;p47"/>
          <p:cNvSpPr txBox="1"/>
          <p:nvPr/>
        </p:nvSpPr>
        <p:spPr>
          <a:xfrm>
            <a:off x="4589710" y="1508670"/>
            <a:ext cx="4173140" cy="234925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4" name="Google Shape;364;p47"/>
          <p:cNvSpPr/>
          <p:nvPr/>
        </p:nvSpPr>
        <p:spPr>
          <a:xfrm>
            <a:off x="4589710" y="3934122"/>
            <a:ext cx="4173140" cy="17011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65" name="Google Shape;365;p47" descr="A cloud computing system with icons&#10;&#10;AI-generated content may be incorrect."/>
          <p:cNvPicPr preferRelativeResize="0"/>
          <p:nvPr/>
        </p:nvPicPr>
        <p:blipFill rotWithShape="1">
          <a:blip r:embed="rId3">
            <a:alphaModFix/>
          </a:blip>
          <a:srcRect/>
          <a:stretch/>
        </p:blipFill>
        <p:spPr>
          <a:xfrm>
            <a:off x="4589550" y="1553950"/>
            <a:ext cx="4036900" cy="3155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8"/>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a:t>Investigator View &amp; Query Interface</a:t>
            </a:r>
            <a:endParaRPr/>
          </a:p>
        </p:txBody>
      </p:sp>
      <p:sp>
        <p:nvSpPr>
          <p:cNvPr id="371" name="Google Shape;371;p48"/>
          <p:cNvSpPr txBox="1">
            <a:spLocks noGrp="1"/>
          </p:cNvSpPr>
          <p:nvPr>
            <p:ph type="subTitle" idx="2"/>
          </p:nvPr>
        </p:nvSpPr>
        <p:spPr>
          <a:xfrm>
            <a:off x="311699" y="712926"/>
            <a:ext cx="8520599" cy="481810"/>
          </a:xfrm>
          <a:prstGeom prst="rect">
            <a:avLst/>
          </a:prstGeom>
          <a:noFill/>
          <a:ln>
            <a:noFill/>
          </a:ln>
        </p:spPr>
        <p:txBody>
          <a:bodyPr spcFirstLastPara="1" wrap="square" lIns="91425" tIns="0" rIns="91425" bIns="91425" anchor="t" anchorCtr="0">
            <a:noAutofit/>
          </a:bodyPr>
          <a:lstStyle/>
          <a:p>
            <a:pPr marL="0" lvl="0" indent="0" algn="l" rtl="0">
              <a:lnSpc>
                <a:spcPct val="80000"/>
              </a:lnSpc>
              <a:spcBef>
                <a:spcPts val="0"/>
              </a:spcBef>
              <a:spcAft>
                <a:spcPts val="0"/>
              </a:spcAft>
              <a:buSzPts val="1800"/>
              <a:buNone/>
            </a:pPr>
            <a:r>
              <a:rPr lang="en" sz="1200"/>
              <a:t>Fraud detection isn’t complete without a review process. This slide covers our API-based query interface for investigators. It enables filtered, secure access to flagged transactions using parameters like user ID or geolocation. The current version is CLI/API-based, but it sets a strong foundation for developing a full-featured investigative dashboard in the future.</a:t>
            </a:r>
            <a:endParaRPr sz="1200"/>
          </a:p>
        </p:txBody>
      </p:sp>
      <p:sp>
        <p:nvSpPr>
          <p:cNvPr id="372" name="Google Shape;372;p4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3" name="Google Shape;373;p4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4" name="Google Shape;374;p48"/>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5" name="Google Shape;375;p48"/>
          <p:cNvSpPr/>
          <p:nvPr/>
        </p:nvSpPr>
        <p:spPr>
          <a:xfrm>
            <a:off x="228600" y="1508670"/>
            <a:ext cx="8534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6" name="Google Shape;376;p48"/>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7" name="Google Shape;377;p48"/>
          <p:cNvSpPr/>
          <p:nvPr/>
        </p:nvSpPr>
        <p:spPr>
          <a:xfrm>
            <a:off x="228600" y="1508670"/>
            <a:ext cx="8534400" cy="3344614"/>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8" name="Google Shape;378;p48"/>
          <p:cNvSpPr/>
          <p:nvPr/>
        </p:nvSpPr>
        <p:spPr>
          <a:xfrm>
            <a:off x="22860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9" name="Google Shape;379;p48"/>
          <p:cNvSpPr/>
          <p:nvPr/>
        </p:nvSpPr>
        <p:spPr>
          <a:xfrm>
            <a:off x="22860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0" name="Google Shape;380;p48"/>
          <p:cNvSpPr/>
          <p:nvPr/>
        </p:nvSpPr>
        <p:spPr>
          <a:xfrm>
            <a:off x="22860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1" name="Google Shape;381;p48"/>
          <p:cNvSpPr/>
          <p:nvPr/>
        </p:nvSpPr>
        <p:spPr>
          <a:xfrm>
            <a:off x="216217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2" name="Google Shape;382;p48"/>
          <p:cNvSpPr txBox="1"/>
          <p:nvPr/>
        </p:nvSpPr>
        <p:spPr>
          <a:xfrm>
            <a:off x="216217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83" name="Google Shape;383;p48" descr="tmprtmkzrcn.png"/>
          <p:cNvPicPr preferRelativeResize="0"/>
          <p:nvPr/>
        </p:nvPicPr>
        <p:blipFill rotWithShape="1">
          <a:blip r:embed="rId3">
            <a:alphaModFix/>
          </a:blip>
          <a:srcRect/>
          <a:stretch/>
        </p:blipFill>
        <p:spPr>
          <a:xfrm>
            <a:off x="2162175" y="1508670"/>
            <a:ext cx="304800" cy="304800"/>
          </a:xfrm>
          <a:prstGeom prst="rect">
            <a:avLst/>
          </a:prstGeom>
          <a:noFill/>
          <a:ln>
            <a:noFill/>
          </a:ln>
        </p:spPr>
      </p:pic>
      <p:sp>
        <p:nvSpPr>
          <p:cNvPr id="384" name="Google Shape;384;p48"/>
          <p:cNvSpPr txBox="1"/>
          <p:nvPr/>
        </p:nvSpPr>
        <p:spPr>
          <a:xfrm>
            <a:off x="22860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API Gateway Interface</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Enables secure access to flagged transactions via standard HTTP requests; abstracts Lambda function calls.</a:t>
            </a:r>
            <a:endParaRPr/>
          </a:p>
        </p:txBody>
      </p:sp>
      <p:sp>
        <p:nvSpPr>
          <p:cNvPr id="385" name="Google Shape;385;p48"/>
          <p:cNvSpPr/>
          <p:nvPr/>
        </p:nvSpPr>
        <p:spPr>
          <a:xfrm>
            <a:off x="459105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6" name="Google Shape;386;p48"/>
          <p:cNvSpPr/>
          <p:nvPr/>
        </p:nvSpPr>
        <p:spPr>
          <a:xfrm>
            <a:off x="459105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7" name="Google Shape;387;p48"/>
          <p:cNvSpPr/>
          <p:nvPr/>
        </p:nvSpPr>
        <p:spPr>
          <a:xfrm>
            <a:off x="4591050" y="1508670"/>
            <a:ext cx="4171950" cy="1683692"/>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8" name="Google Shape;388;p48"/>
          <p:cNvSpPr/>
          <p:nvPr/>
        </p:nvSpPr>
        <p:spPr>
          <a:xfrm>
            <a:off x="6524625" y="1508670"/>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89" name="Google Shape;389;p48"/>
          <p:cNvSpPr txBox="1"/>
          <p:nvPr/>
        </p:nvSpPr>
        <p:spPr>
          <a:xfrm>
            <a:off x="6524625" y="1508670"/>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90" name="Google Shape;390;p48" descr="tmp6q5vdro1.png"/>
          <p:cNvPicPr preferRelativeResize="0"/>
          <p:nvPr/>
        </p:nvPicPr>
        <p:blipFill rotWithShape="1">
          <a:blip r:embed="rId4">
            <a:alphaModFix/>
          </a:blip>
          <a:srcRect/>
          <a:stretch/>
        </p:blipFill>
        <p:spPr>
          <a:xfrm>
            <a:off x="6524625" y="1508670"/>
            <a:ext cx="304800" cy="304800"/>
          </a:xfrm>
          <a:prstGeom prst="rect">
            <a:avLst/>
          </a:prstGeom>
          <a:noFill/>
          <a:ln>
            <a:noFill/>
          </a:ln>
        </p:spPr>
      </p:pic>
      <p:sp>
        <p:nvSpPr>
          <p:cNvPr id="391" name="Google Shape;391;p48"/>
          <p:cNvSpPr txBox="1"/>
          <p:nvPr/>
        </p:nvSpPr>
        <p:spPr>
          <a:xfrm>
            <a:off x="4591050" y="1927770"/>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Investigator Query Support</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Allows querying by user ID, time range, risk score, or geolocation to enable case-by-case review.</a:t>
            </a:r>
            <a:endParaRPr/>
          </a:p>
        </p:txBody>
      </p:sp>
      <p:sp>
        <p:nvSpPr>
          <p:cNvPr id="392" name="Google Shape;392;p48"/>
          <p:cNvSpPr/>
          <p:nvPr/>
        </p:nvSpPr>
        <p:spPr>
          <a:xfrm>
            <a:off x="22860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3" name="Google Shape;393;p48"/>
          <p:cNvSpPr/>
          <p:nvPr/>
        </p:nvSpPr>
        <p:spPr>
          <a:xfrm>
            <a:off x="22860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4" name="Google Shape;394;p48"/>
          <p:cNvSpPr/>
          <p:nvPr/>
        </p:nvSpPr>
        <p:spPr>
          <a:xfrm>
            <a:off x="22860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5" name="Google Shape;395;p48"/>
          <p:cNvSpPr/>
          <p:nvPr/>
        </p:nvSpPr>
        <p:spPr>
          <a:xfrm>
            <a:off x="2162175" y="338286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6" name="Google Shape;396;p48"/>
          <p:cNvSpPr txBox="1"/>
          <p:nvPr/>
        </p:nvSpPr>
        <p:spPr>
          <a:xfrm>
            <a:off x="2162175" y="338286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97" name="Google Shape;397;p48" descr="tmp_aicx5yt.png"/>
          <p:cNvPicPr preferRelativeResize="0"/>
          <p:nvPr/>
        </p:nvPicPr>
        <p:blipFill rotWithShape="1">
          <a:blip r:embed="rId5">
            <a:alphaModFix/>
          </a:blip>
          <a:srcRect/>
          <a:stretch/>
        </p:blipFill>
        <p:spPr>
          <a:xfrm>
            <a:off x="2162175" y="3382863"/>
            <a:ext cx="304800" cy="304800"/>
          </a:xfrm>
          <a:prstGeom prst="rect">
            <a:avLst/>
          </a:prstGeom>
          <a:noFill/>
          <a:ln>
            <a:noFill/>
          </a:ln>
        </p:spPr>
      </p:pic>
      <p:sp>
        <p:nvSpPr>
          <p:cNvPr id="398" name="Google Shape;398;p48"/>
          <p:cNvSpPr txBox="1"/>
          <p:nvPr/>
        </p:nvSpPr>
        <p:spPr>
          <a:xfrm>
            <a:off x="228600" y="380196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Secure Data Retrieval</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Only flagged or suspicious transactions are exposed through API to minimize data exposure risks.</a:t>
            </a:r>
            <a:endParaRPr/>
          </a:p>
        </p:txBody>
      </p:sp>
      <p:sp>
        <p:nvSpPr>
          <p:cNvPr id="399" name="Google Shape;399;p48"/>
          <p:cNvSpPr/>
          <p:nvPr/>
        </p:nvSpPr>
        <p:spPr>
          <a:xfrm>
            <a:off x="459105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0" name="Google Shape;400;p48"/>
          <p:cNvSpPr/>
          <p:nvPr/>
        </p:nvSpPr>
        <p:spPr>
          <a:xfrm>
            <a:off x="459105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1" name="Google Shape;401;p48"/>
          <p:cNvSpPr/>
          <p:nvPr/>
        </p:nvSpPr>
        <p:spPr>
          <a:xfrm>
            <a:off x="4591050" y="3382863"/>
            <a:ext cx="4171950" cy="147027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2" name="Google Shape;402;p48"/>
          <p:cNvSpPr/>
          <p:nvPr/>
        </p:nvSpPr>
        <p:spPr>
          <a:xfrm>
            <a:off x="6524625" y="3382863"/>
            <a:ext cx="304800" cy="3048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3" name="Google Shape;403;p48"/>
          <p:cNvSpPr txBox="1"/>
          <p:nvPr/>
        </p:nvSpPr>
        <p:spPr>
          <a:xfrm>
            <a:off x="6524625" y="3382863"/>
            <a:ext cx="304800" cy="304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404" name="Google Shape;404;p48" descr="tmpwodchbl7.png"/>
          <p:cNvPicPr preferRelativeResize="0"/>
          <p:nvPr/>
        </p:nvPicPr>
        <p:blipFill rotWithShape="1">
          <a:blip r:embed="rId6">
            <a:alphaModFix/>
          </a:blip>
          <a:srcRect/>
          <a:stretch/>
        </p:blipFill>
        <p:spPr>
          <a:xfrm>
            <a:off x="6524625" y="3382863"/>
            <a:ext cx="304800" cy="304800"/>
          </a:xfrm>
          <a:prstGeom prst="rect">
            <a:avLst/>
          </a:prstGeom>
          <a:noFill/>
          <a:ln>
            <a:noFill/>
          </a:ln>
        </p:spPr>
      </p:pic>
      <p:sp>
        <p:nvSpPr>
          <p:cNvPr id="405" name="Google Shape;405;p48"/>
          <p:cNvSpPr txBox="1"/>
          <p:nvPr/>
        </p:nvSpPr>
        <p:spPr>
          <a:xfrm>
            <a:off x="4591050" y="3801963"/>
            <a:ext cx="4171950" cy="22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1300" b="1" i="0" u="none" strike="noStrike" cap="none">
                <a:solidFill>
                  <a:srgbClr val="1F2728"/>
                </a:solidFill>
                <a:latin typeface="Roboto"/>
                <a:ea typeface="Roboto"/>
                <a:cs typeface="Roboto"/>
                <a:sym typeface="Roboto"/>
              </a:rPr>
              <a:t>Future UI Expansion</a:t>
            </a:r>
            <a:endParaRPr/>
          </a:p>
          <a:p>
            <a:pPr marL="0" marR="0" lvl="0" indent="0" algn="ctr" rtl="0">
              <a:lnSpc>
                <a:spcPct val="100000"/>
              </a:lnSpc>
              <a:spcBef>
                <a:spcPts val="0"/>
              </a:spcBef>
              <a:spcAft>
                <a:spcPts val="0"/>
              </a:spcAft>
              <a:buNone/>
            </a:pPr>
            <a:r>
              <a:rPr lang="en" sz="1400" b="0" i="0" u="none" strike="noStrike" cap="none">
                <a:solidFill>
                  <a:srgbClr val="1F2728"/>
                </a:solidFill>
                <a:latin typeface="Roboto"/>
                <a:ea typeface="Roboto"/>
                <a:cs typeface="Roboto"/>
                <a:sym typeface="Roboto"/>
              </a:rPr>
              <a:t>Potential to expand into full dashboard interface for real-time browsing and case annotation.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9"/>
          <p:cNvSpPr/>
          <p:nvPr/>
        </p:nvSpPr>
        <p:spPr>
          <a:xfrm>
            <a:off x="8762850" y="1508675"/>
            <a:ext cx="1524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1" name="Google Shape;411;p49"/>
          <p:cNvSpPr txBox="1"/>
          <p:nvPr/>
        </p:nvSpPr>
        <p:spPr>
          <a:xfrm>
            <a:off x="76200" y="3359727"/>
            <a:ext cx="8444400" cy="1832809"/>
          </a:xfrm>
          <a:prstGeom prst="rect">
            <a:avLst/>
          </a:prstGeom>
          <a:noFill/>
          <a:ln>
            <a:noFill/>
          </a:ln>
        </p:spPr>
        <p:txBody>
          <a:bodyPr spcFirstLastPara="1" wrap="square" lIns="165100" tIns="0" rIns="0" bIns="190500" anchor="t" anchorCtr="0">
            <a:spAutoFit/>
          </a:bodyPr>
          <a:lstStyle/>
          <a:p>
            <a:pPr marL="457200" lvl="0" indent="-304800" algn="l" rtl="0">
              <a:lnSpc>
                <a:spcPct val="115000"/>
              </a:lnSpc>
              <a:spcBef>
                <a:spcPts val="1200"/>
              </a:spcBef>
              <a:spcAft>
                <a:spcPts val="0"/>
              </a:spcAft>
              <a:buClr>
                <a:srgbClr val="1F2728"/>
              </a:buClr>
              <a:buSzPts val="1200"/>
              <a:buFont typeface="Roboto"/>
              <a:buChar char="●"/>
            </a:pPr>
            <a:r>
              <a:rPr lang="en" sz="1200" b="1" i="0" u="none" strike="noStrike" cap="none" dirty="0">
                <a:solidFill>
                  <a:srgbClr val="1F2728"/>
                </a:solidFill>
                <a:latin typeface="Roboto"/>
                <a:ea typeface="Roboto"/>
                <a:cs typeface="Roboto"/>
                <a:sym typeface="Roboto"/>
              </a:rPr>
              <a:t>Proof-of-Concept Achieved:</a:t>
            </a:r>
            <a:r>
              <a:rPr lang="en" sz="1200" b="0" i="0" u="none" strike="noStrike" cap="none" dirty="0">
                <a:solidFill>
                  <a:srgbClr val="1F2728"/>
                </a:solidFill>
                <a:latin typeface="Roboto"/>
                <a:ea typeface="Roboto"/>
                <a:cs typeface="Roboto"/>
                <a:sym typeface="Roboto"/>
              </a:rPr>
              <a:t> Successfully simulated live fraud detection pipeline on AWS using real-world-inspired data and serverless tools.</a:t>
            </a:r>
            <a:endParaRPr sz="1200" dirty="0">
              <a:solidFill>
                <a:srgbClr val="1F2728"/>
              </a:solidFill>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b="1" i="0" u="none" strike="noStrike" cap="none" dirty="0">
                <a:solidFill>
                  <a:srgbClr val="1F2728"/>
                </a:solidFill>
                <a:latin typeface="Roboto"/>
                <a:ea typeface="Roboto"/>
                <a:cs typeface="Roboto"/>
                <a:sym typeface="Roboto"/>
              </a:rPr>
              <a:t>Robust but Extendable Framework:</a:t>
            </a:r>
            <a:r>
              <a:rPr lang="en" sz="1200" b="0" i="0" u="none" strike="noStrike" cap="none" dirty="0">
                <a:solidFill>
                  <a:srgbClr val="1F2728"/>
                </a:solidFill>
                <a:latin typeface="Roboto"/>
                <a:ea typeface="Roboto"/>
                <a:cs typeface="Roboto"/>
                <a:sym typeface="Roboto"/>
              </a:rPr>
              <a:t> System design allows easy future upgrades—advanced ML, additional rules, or UI dashboards.</a:t>
            </a:r>
            <a:endParaRPr sz="1200" dirty="0">
              <a:solidFill>
                <a:srgbClr val="1F2728"/>
              </a:solidFill>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b="1" i="0" u="none" strike="noStrike" cap="none" dirty="0">
                <a:solidFill>
                  <a:srgbClr val="1F2728"/>
                </a:solidFill>
                <a:latin typeface="Roboto"/>
                <a:ea typeface="Roboto"/>
                <a:cs typeface="Roboto"/>
                <a:sym typeface="Roboto"/>
              </a:rPr>
              <a:t>Next Steps in Model Training:</a:t>
            </a:r>
            <a:r>
              <a:rPr lang="en" sz="1200" b="0" i="0" u="none" strike="noStrike" cap="none" dirty="0">
                <a:solidFill>
                  <a:srgbClr val="1F2728"/>
                </a:solidFill>
                <a:latin typeface="Roboto"/>
                <a:ea typeface="Roboto"/>
                <a:cs typeface="Roboto"/>
                <a:sym typeface="Roboto"/>
              </a:rPr>
              <a:t> Explore deep learning or ensemble models, integrate real-time retraining using recent flagged data.</a:t>
            </a:r>
            <a:endParaRPr sz="1200" dirty="0">
              <a:solidFill>
                <a:srgbClr val="1F2728"/>
              </a:solidFill>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b="1" i="0" u="none" strike="noStrike" cap="none" dirty="0">
                <a:solidFill>
                  <a:srgbClr val="1F2728"/>
                </a:solidFill>
                <a:latin typeface="Roboto"/>
                <a:ea typeface="Roboto"/>
                <a:cs typeface="Roboto"/>
                <a:sym typeface="Roboto"/>
              </a:rPr>
              <a:t>Operational Scaling:</a:t>
            </a:r>
            <a:r>
              <a:rPr lang="en" sz="1200" b="0" i="0" u="none" strike="noStrike" cap="none" dirty="0">
                <a:solidFill>
                  <a:srgbClr val="1F2728"/>
                </a:solidFill>
                <a:latin typeface="Roboto"/>
                <a:ea typeface="Roboto"/>
                <a:cs typeface="Roboto"/>
                <a:sym typeface="Roboto"/>
              </a:rPr>
              <a:t> Add monitoring, autoscaling, and role-based access for production use.</a:t>
            </a:r>
            <a:endParaRPr sz="1200" dirty="0"/>
          </a:p>
        </p:txBody>
      </p:sp>
      <p:sp>
        <p:nvSpPr>
          <p:cNvPr id="412" name="Google Shape;412;p49"/>
          <p:cNvSpPr/>
          <p:nvPr/>
        </p:nvSpPr>
        <p:spPr>
          <a:xfrm>
            <a:off x="4589710" y="3934122"/>
            <a:ext cx="4173140" cy="177403"/>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13" name="Google Shape;413;p49"/>
          <p:cNvSpPr txBox="1"/>
          <p:nvPr/>
        </p:nvSpPr>
        <p:spPr>
          <a:xfrm>
            <a:off x="76200" y="-166255"/>
            <a:ext cx="8953499" cy="385102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400"/>
              </a:spcBef>
              <a:spcAft>
                <a:spcPts val="0"/>
              </a:spcAft>
              <a:buNone/>
            </a:pPr>
            <a:r>
              <a:rPr lang="en" sz="2300" b="1" dirty="0"/>
              <a:t>9</a:t>
            </a:r>
            <a:r>
              <a:rPr lang="en" sz="2300" b="1" dirty="0">
                <a:latin typeface="Roboto"/>
                <a:ea typeface="Roboto"/>
                <a:cs typeface="Roboto"/>
                <a:sym typeface="Roboto"/>
              </a:rPr>
              <a:t>. Conclusion</a:t>
            </a:r>
            <a:endParaRPr sz="2300" b="1" dirty="0">
              <a:latin typeface="Roboto"/>
              <a:ea typeface="Roboto"/>
              <a:cs typeface="Roboto"/>
              <a:sym typeface="Roboto"/>
            </a:endParaRPr>
          </a:p>
          <a:p>
            <a:pPr marL="0" lvl="0" indent="0" algn="l" rtl="0">
              <a:lnSpc>
                <a:spcPct val="115000"/>
              </a:lnSpc>
              <a:spcBef>
                <a:spcPts val="1200"/>
              </a:spcBef>
              <a:spcAft>
                <a:spcPts val="0"/>
              </a:spcAft>
              <a:buNone/>
            </a:pPr>
            <a:r>
              <a:rPr lang="en" sz="1200" dirty="0">
                <a:latin typeface="Roboto"/>
                <a:ea typeface="Roboto"/>
                <a:cs typeface="Roboto"/>
                <a:sym typeface="Roboto"/>
              </a:rPr>
              <a:t>Our project demonstrates a fully functional simulation of real-time fraud detection using AWS cloud services. While the prototype meets key goals, it’s also highly extendable. Next steps include deeper ML integration, automated model retraining, and UI enhancements. With further development, this system could serve as the backbone of a production-grade fraud detection platform.</a:t>
            </a:r>
            <a:endParaRPr sz="1200" dirty="0">
              <a:latin typeface="Roboto"/>
              <a:ea typeface="Roboto"/>
              <a:cs typeface="Roboto"/>
              <a:sym typeface="Roboto"/>
            </a:endParaRPr>
          </a:p>
          <a:p>
            <a:pPr marL="457200" lvl="0" indent="-304800" algn="l" rtl="0">
              <a:lnSpc>
                <a:spcPct val="115000"/>
              </a:lnSpc>
              <a:spcBef>
                <a:spcPts val="1200"/>
              </a:spcBef>
              <a:spcAft>
                <a:spcPts val="0"/>
              </a:spcAft>
              <a:buSzPts val="1200"/>
              <a:buFont typeface="Roboto"/>
              <a:buChar char="●"/>
            </a:pPr>
            <a:r>
              <a:rPr lang="en" sz="1200" dirty="0">
                <a:latin typeface="Roboto"/>
                <a:ea typeface="Roboto"/>
                <a:cs typeface="Roboto"/>
                <a:sym typeface="Roboto"/>
              </a:rPr>
              <a:t>Continuously generates transactions</a:t>
            </a:r>
            <a:endParaRPr sz="1200" dirty="0">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dirty="0">
                <a:latin typeface="Roboto"/>
                <a:ea typeface="Roboto"/>
                <a:cs typeface="Roboto"/>
                <a:sym typeface="Roboto"/>
              </a:rPr>
              <a:t>Scores anomalies with explainable reasoning</a:t>
            </a:r>
            <a:endParaRPr sz="1200" dirty="0">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dirty="0">
                <a:latin typeface="Roboto"/>
                <a:ea typeface="Roboto"/>
                <a:cs typeface="Roboto"/>
                <a:sym typeface="Roboto"/>
              </a:rPr>
              <a:t>Alerts investigators via SNS</a:t>
            </a:r>
            <a:endParaRPr sz="1200" dirty="0">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dirty="0">
                <a:latin typeface="Roboto"/>
                <a:ea typeface="Roboto"/>
                <a:cs typeface="Roboto"/>
                <a:sym typeface="Roboto"/>
              </a:rPr>
              <a:t>Stores normalized, searchable records</a:t>
            </a:r>
            <a:endParaRPr sz="1200" dirty="0">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dirty="0">
                <a:latin typeface="Roboto"/>
                <a:ea typeface="Roboto"/>
                <a:cs typeface="Roboto"/>
                <a:sym typeface="Roboto"/>
              </a:rPr>
              <a:t>Displays decisions in an interactive web UI</a:t>
            </a:r>
            <a:endParaRPr sz="1200" dirty="0">
              <a:latin typeface="Roboto"/>
              <a:ea typeface="Roboto"/>
              <a:cs typeface="Roboto"/>
              <a:sym typeface="Roboto"/>
            </a:endParaRPr>
          </a:p>
          <a:p>
            <a:pPr marL="457200" lvl="0" indent="-304800" algn="l" rtl="0">
              <a:lnSpc>
                <a:spcPct val="115000"/>
              </a:lnSpc>
              <a:spcBef>
                <a:spcPts val="0"/>
              </a:spcBef>
              <a:spcAft>
                <a:spcPts val="0"/>
              </a:spcAft>
              <a:buSzPts val="1200"/>
              <a:buFont typeface="Roboto"/>
              <a:buChar char="●"/>
            </a:pPr>
            <a:r>
              <a:rPr lang="en" sz="1200" dirty="0">
                <a:latin typeface="Roboto"/>
                <a:ea typeface="Roboto"/>
                <a:cs typeface="Roboto"/>
                <a:sym typeface="Roboto"/>
              </a:rPr>
              <a:t>Meets performance and accuracy targets</a:t>
            </a:r>
            <a:endParaRPr sz="1200" dirty="0">
              <a:latin typeface="Roboto"/>
              <a:ea typeface="Roboto"/>
              <a:cs typeface="Roboto"/>
              <a:sym typeface="Roboto"/>
            </a:endParaRPr>
          </a:p>
          <a:p>
            <a:pPr marL="0" lvl="0" indent="0" algn="l" rtl="0">
              <a:lnSpc>
                <a:spcPct val="115000"/>
              </a:lnSpc>
              <a:spcBef>
                <a:spcPts val="1200"/>
              </a:spcBef>
              <a:spcAft>
                <a:spcPts val="1200"/>
              </a:spcAft>
              <a:buNone/>
            </a:pPr>
            <a:r>
              <a:rPr lang="en" sz="1200" dirty="0">
                <a:latin typeface="Roboto"/>
                <a:ea typeface="Roboto"/>
                <a:cs typeface="Roboto"/>
                <a:sym typeface="Roboto"/>
              </a:rPr>
              <a:t>This architecture is production-grade, scalable, and ready for real-world ML integration.</a:t>
            </a:r>
            <a:endParaRPr sz="1500" dirty="0">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0"/>
          <p:cNvSpPr txBox="1">
            <a:spLocks noGrp="1"/>
          </p:cNvSpPr>
          <p:nvPr>
            <p:ph type="title"/>
          </p:nvPr>
        </p:nvSpPr>
        <p:spPr>
          <a:xfrm>
            <a:off x="311700" y="0"/>
            <a:ext cx="8520600" cy="712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Live Demonstration - Video</a:t>
            </a:r>
            <a:endParaRPr/>
          </a:p>
        </p:txBody>
      </p:sp>
      <p:sp>
        <p:nvSpPr>
          <p:cNvPr id="419" name="Google Shape;419;p50"/>
          <p:cNvSpPr txBox="1"/>
          <p:nvPr/>
        </p:nvSpPr>
        <p:spPr>
          <a:xfrm>
            <a:off x="311700" y="793425"/>
            <a:ext cx="16695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dirty="0">
                <a:solidFill>
                  <a:schemeClr val="hlink"/>
                </a:solidFill>
                <a:hlinkClick r:id="rId3"/>
              </a:rPr>
              <a:t>Video Link</a:t>
            </a:r>
            <a:endParaRP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1"/>
          <p:cNvSpPr txBox="1">
            <a:spLocks noGrp="1"/>
          </p:cNvSpPr>
          <p:nvPr>
            <p:ph type="title"/>
          </p:nvPr>
        </p:nvSpPr>
        <p:spPr>
          <a:xfrm>
            <a:off x="311700" y="0"/>
            <a:ext cx="8520600" cy="712925"/>
          </a:xfrm>
          <a:prstGeom prst="rect">
            <a:avLst/>
          </a:prstGeom>
          <a:noFill/>
          <a:ln>
            <a:noFill/>
          </a:ln>
        </p:spPr>
        <p:txBody>
          <a:bodyPr spcFirstLastPara="1" wrap="square" lIns="91425" tIns="91425" rIns="91425" bIns="91425" anchor="ctr" anchorCtr="0">
            <a:normAutofit/>
          </a:bodyPr>
          <a:lstStyle/>
          <a:p>
            <a:pPr marL="0" lvl="0" indent="0" algn="l" rtl="0">
              <a:lnSpc>
                <a:spcPct val="100000"/>
              </a:lnSpc>
              <a:spcBef>
                <a:spcPts val="0"/>
              </a:spcBef>
              <a:spcAft>
                <a:spcPts val="0"/>
              </a:spcAft>
              <a:buSzPts val="2200"/>
              <a:buNone/>
            </a:pPr>
            <a:r>
              <a:rPr lang="en"/>
              <a:t>Resources</a:t>
            </a:r>
            <a:endParaRPr/>
          </a:p>
        </p:txBody>
      </p:sp>
      <p:sp>
        <p:nvSpPr>
          <p:cNvPr id="426" name="Google Shape;426;p51"/>
          <p:cNvSpPr txBox="1"/>
          <p:nvPr/>
        </p:nvSpPr>
        <p:spPr>
          <a:xfrm>
            <a:off x="257900" y="945100"/>
            <a:ext cx="8358900" cy="1485300"/>
          </a:xfrm>
          <a:prstGeom prst="rect">
            <a:avLst/>
          </a:prstGeom>
          <a:noFill/>
          <a:ln>
            <a:noFill/>
          </a:ln>
        </p:spPr>
        <p:txBody>
          <a:bodyPr spcFirstLastPara="1" wrap="square" lIns="165100" tIns="0" rIns="0" bIns="190500" anchor="t" anchorCtr="0">
            <a:spAutoFit/>
          </a:bodyPr>
          <a:lstStyle/>
          <a:p>
            <a:pPr marL="0" marR="0" lvl="0" indent="0" algn="l" rtl="0">
              <a:lnSpc>
                <a:spcPct val="100000"/>
              </a:lnSpc>
              <a:spcBef>
                <a:spcPts val="0"/>
              </a:spcBef>
              <a:spcAft>
                <a:spcPts val="0"/>
              </a:spcAft>
              <a:buNone/>
            </a:pPr>
            <a:r>
              <a:rPr lang="en" dirty="0"/>
              <a:t>Datasets</a:t>
            </a:r>
            <a:br>
              <a:rPr lang="en" dirty="0"/>
            </a:br>
            <a:r>
              <a:rPr lang="en" sz="1400" b="0" i="0" u="sng" strike="noStrike" cap="none" dirty="0">
                <a:solidFill>
                  <a:schemeClr val="hlink"/>
                </a:solidFill>
                <a:latin typeface="Arial"/>
                <a:ea typeface="Arial"/>
                <a:cs typeface="Arial"/>
                <a:sym typeface="Arial"/>
                <a:hlinkClick r:id="rId3"/>
              </a:rPr>
              <a:t>https://www.kaggle.com/competitions/ieee-fraud-detection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sng" strike="noStrike" cap="none" dirty="0">
                <a:solidFill>
                  <a:schemeClr val="hlink"/>
                </a:solidFill>
                <a:latin typeface="Arial"/>
                <a:ea typeface="Arial"/>
                <a:cs typeface="Arial"/>
                <a:sym typeface="Arial"/>
                <a:hlinkClick r:id="rId4"/>
              </a:rPr>
              <a:t>https://www.kaggle.com/datasets/nelgiriyewithana/credit-card-fraud-detection-dataset-2023</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sng" strike="noStrike" cap="none" dirty="0">
                <a:solidFill>
                  <a:schemeClr val="hlink"/>
                </a:solidFill>
                <a:latin typeface="Arial"/>
                <a:ea typeface="Arial"/>
                <a:cs typeface="Arial"/>
                <a:sym typeface="Arial"/>
                <a:hlinkClick r:id="rId5"/>
              </a:rPr>
              <a:t>https://www.datacamp.com/datalab/datasets/dataset-python-credit-card-fraud</a:t>
            </a:r>
            <a:r>
              <a:rPr lang="en"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 sz="1400" b="0" i="0" u="sng" strike="noStrike" cap="none" dirty="0">
                <a:solidFill>
                  <a:schemeClr val="hlink"/>
                </a:solidFill>
                <a:latin typeface="Arial"/>
                <a:ea typeface="Arial"/>
                <a:cs typeface="Arial"/>
                <a:sym typeface="Arial"/>
                <a:hlinkClick r:id="rId6"/>
              </a:rPr>
              <a:t>https://www.abclegal.com/blog/credit-card-fraud-prevention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sng" strike="noStrike" cap="none" dirty="0">
                <a:solidFill>
                  <a:schemeClr val="hlink"/>
                </a:solidFill>
                <a:latin typeface="Arial"/>
                <a:ea typeface="Arial"/>
                <a:cs typeface="Arial"/>
                <a:sym typeface="Arial"/>
                <a:hlinkClick r:id="rId7"/>
              </a:rPr>
              <a:t>https://bernardmarr.com/the-5-biggest-cloud-computing-trends-in-2021/</a:t>
            </a:r>
            <a:endParaRPr dirty="0"/>
          </a:p>
        </p:txBody>
      </p:sp>
      <p:sp>
        <p:nvSpPr>
          <p:cNvPr id="427" name="Google Shape;427;p51"/>
          <p:cNvSpPr txBox="1"/>
          <p:nvPr/>
        </p:nvSpPr>
        <p:spPr>
          <a:xfrm>
            <a:off x="392550" y="2571750"/>
            <a:ext cx="8358900" cy="2347200"/>
          </a:xfrm>
          <a:prstGeom prst="rect">
            <a:avLst/>
          </a:prstGeom>
          <a:noFill/>
          <a:ln>
            <a:noFill/>
          </a:ln>
        </p:spPr>
        <p:txBody>
          <a:bodyPr spcFirstLastPara="1" wrap="square" lIns="165100" tIns="0" rIns="0" bIns="190500" anchor="t" anchorCtr="0">
            <a:spAutoFit/>
          </a:bodyPr>
          <a:lstStyle/>
          <a:p>
            <a:pPr marL="0" marR="0" lvl="0" indent="0" algn="l" rtl="0">
              <a:lnSpc>
                <a:spcPct val="100000"/>
              </a:lnSpc>
              <a:spcBef>
                <a:spcPts val="0"/>
              </a:spcBef>
              <a:spcAft>
                <a:spcPts val="0"/>
              </a:spcAft>
              <a:buNone/>
            </a:pPr>
            <a:r>
              <a:rPr lang="en"/>
              <a:t>AWS</a:t>
            </a:r>
            <a:br>
              <a:rPr lang="en"/>
            </a:br>
            <a:r>
              <a:rPr lang="en" u="sng">
                <a:solidFill>
                  <a:schemeClr val="hlink"/>
                </a:solidFill>
                <a:hlinkClick r:id="rId8"/>
              </a:rPr>
              <a:t>https://docs.aws.amazon.com/AmazonCloudWatch/latest/monitoring/WhatIsCloudWatch.html\</a:t>
            </a:r>
            <a:endParaRPr/>
          </a:p>
          <a:p>
            <a:pPr marL="0" lvl="0" indent="0" algn="l" rtl="0">
              <a:spcBef>
                <a:spcPts val="0"/>
              </a:spcBef>
              <a:spcAft>
                <a:spcPts val="0"/>
              </a:spcAft>
              <a:buNone/>
            </a:pPr>
            <a:r>
              <a:rPr lang="en" u="sng">
                <a:solidFill>
                  <a:schemeClr val="lt2"/>
                </a:solidFill>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https://docs.aws.amazon.com/sns/latest/dg/welcome.html</a:t>
            </a:r>
            <a:endParaRPr/>
          </a:p>
          <a:p>
            <a:pPr marL="0" lvl="0" indent="0" algn="l" rtl="0">
              <a:spcBef>
                <a:spcPts val="0"/>
              </a:spcBef>
              <a:spcAft>
                <a:spcPts val="0"/>
              </a:spcAft>
              <a:buNone/>
            </a:pPr>
            <a:r>
              <a:rPr lang="en" u="sng">
                <a:solidFill>
                  <a:schemeClr val="hlink"/>
                </a:solidFill>
                <a:hlinkClick r:id="rId10"/>
              </a:rPr>
              <a:t>https://docs.aws.amazon.com/AWSSimpleQueueService/latest/SQSDeveloperGuide/sqs-getting-started.html</a:t>
            </a:r>
            <a:endParaRPr/>
          </a:p>
          <a:p>
            <a:pPr marL="0" lvl="0" indent="0" algn="l" rtl="0">
              <a:spcBef>
                <a:spcPts val="0"/>
              </a:spcBef>
              <a:spcAft>
                <a:spcPts val="0"/>
              </a:spcAft>
              <a:buNone/>
            </a:pPr>
            <a:r>
              <a:rPr lang="en" u="sng">
                <a:solidFill>
                  <a:schemeClr val="hlink"/>
                </a:solidFill>
                <a:hlinkClick r:id="rId11"/>
              </a:rPr>
              <a:t>https://docs.aws.amazon.com/lambda/latest/dg/welcome.html</a:t>
            </a:r>
            <a:endParaRPr/>
          </a:p>
          <a:p>
            <a:pPr marL="0" lvl="0" indent="0" algn="l" rtl="0">
              <a:spcBef>
                <a:spcPts val="0"/>
              </a:spcBef>
              <a:spcAft>
                <a:spcPts val="0"/>
              </a:spcAft>
              <a:buNone/>
            </a:pPr>
            <a:r>
              <a:rPr lang="en" u="sng">
                <a:solidFill>
                  <a:schemeClr val="hlink"/>
                </a:solidFill>
                <a:hlinkClick r:id="rId12"/>
              </a:rPr>
              <a:t>https://docs.aws.amazon.com/AmazonS3/latest/userguide/Welcome.html</a:t>
            </a:r>
            <a:endParaRPr/>
          </a:p>
          <a:p>
            <a:pPr marL="0" lvl="0" indent="0" algn="l" rtl="0">
              <a:spcBef>
                <a:spcPts val="0"/>
              </a:spcBef>
              <a:spcAft>
                <a:spcPts val="0"/>
              </a:spcAft>
              <a:buNone/>
            </a:pPr>
            <a:r>
              <a:rPr lang="en" u="sng">
                <a:solidFill>
                  <a:schemeClr val="hlink"/>
                </a:solidFill>
                <a:hlinkClick r:id="rId13"/>
              </a:rPr>
              <a:t>https://docs.aws.amazon.com/amazondynamodb/latest/developerguide/Introduction.html</a:t>
            </a:r>
            <a:endParaRPr/>
          </a:p>
          <a:p>
            <a:pPr marL="0" lvl="0" indent="0" algn="l" rtl="0">
              <a:spcBef>
                <a:spcPts val="0"/>
              </a:spcBef>
              <a:spcAft>
                <a:spcPts val="0"/>
              </a:spcAft>
              <a:buNone/>
            </a:pPr>
            <a:r>
              <a:rPr lang="en" u="sng">
                <a:solidFill>
                  <a:schemeClr val="hlink"/>
                </a:solidFill>
                <a:hlinkClick r:id="rId14"/>
              </a:rPr>
              <a:t>https://docs.aws.amazon.com/eventbridge/latest/userguide/eb-what-is.html</a:t>
            </a:r>
            <a:endParaRPr/>
          </a:p>
          <a:p>
            <a:pPr marL="0" lvl="0" indent="0" algn="l" rtl="0">
              <a:spcBef>
                <a:spcPts val="0"/>
              </a:spcBef>
              <a:spcAft>
                <a:spcPts val="0"/>
              </a:spcAft>
              <a:buNone/>
            </a:pPr>
            <a:r>
              <a:rPr lang="en" u="sng">
                <a:solidFill>
                  <a:schemeClr val="hlink"/>
                </a:solidFill>
                <a:hlinkClick r:id="rId15"/>
              </a:rPr>
              <a:t>https://docs.aws.amazon.com/apigateway/latest/developerguide/welcome.html</a:t>
            </a:r>
            <a:r>
              <a:rPr lang="en"/>
              <a:t>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3836</Words>
  <Application>Microsoft Office PowerPoint</Application>
  <PresentationFormat>On-screen Show (16:9)</PresentationFormat>
  <Paragraphs>413</Paragraphs>
  <Slides>26</Slides>
  <Notes>26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26</vt:i4>
      </vt:variant>
    </vt:vector>
  </HeadingPairs>
  <TitlesOfParts>
    <vt:vector size="31" baseType="lpstr">
      <vt:lpstr>Arial</vt:lpstr>
      <vt:lpstr>Roboto</vt:lpstr>
      <vt:lpstr>Proxima Nova</vt:lpstr>
      <vt:lpstr>Simple Light</vt:lpstr>
      <vt:lpstr>Spearmint</vt:lpstr>
      <vt:lpstr>Real-Time Credit Card Fraud Detection</vt:lpstr>
      <vt:lpstr>Introduction </vt:lpstr>
      <vt:lpstr>The Problem: Real-Time Fraud in the Financial World</vt:lpstr>
      <vt:lpstr>System Overview: Real-Time Fraud Detection Pipeline</vt:lpstr>
      <vt:lpstr>2. System Architecture</vt:lpstr>
      <vt:lpstr>Success Criteria</vt:lpstr>
      <vt:lpstr>3. Architecture Deep Dive</vt:lpstr>
      <vt:lpstr>Component-Level Deep Dive</vt:lpstr>
      <vt:lpstr>3.2 SQS Queue</vt:lpstr>
      <vt:lpstr>3.3 score-decide Lambda — Real-Time Fraud Scoring Engine</vt:lpstr>
      <vt:lpstr>PowerPoint Presentation</vt:lpstr>
      <vt:lpstr>3.4 DynamoDB — fraud_table</vt:lpstr>
      <vt:lpstr>3.5 investigator-api Lambda (Query Endpoint)</vt:lpstr>
      <vt:lpstr>3.6 API Gateway (Public API)</vt:lpstr>
      <vt:lpstr>3.7 S3 Static Website — Investigator Console </vt:lpstr>
      <vt:lpstr>4. End-to-End Trace &amp; Observability</vt:lpstr>
      <vt:lpstr>Performance Evaluation</vt:lpstr>
      <vt:lpstr>6. ML Integration (Extensibility)</vt:lpstr>
      <vt:lpstr>7. Security Considerations</vt:lpstr>
      <vt:lpstr>Data &amp; Modeling Challenges</vt:lpstr>
      <vt:lpstr>AWS Implementation &amp; Alerting Flow</vt:lpstr>
      <vt:lpstr>Implementation Hurdles &amp; Debugging</vt:lpstr>
      <vt:lpstr>Investigator View &amp; Query Interface</vt:lpstr>
      <vt:lpstr>PowerPoint Presentation</vt:lpstr>
      <vt:lpstr>Live Demonstration - Video</vt:lpstr>
      <vt:lpstr>Resources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Credit Card Fraud Detection</dc:title>
  <dc:creator>gauravmahajan</dc:creator>
  <cp:lastModifiedBy>Microsoft account</cp:lastModifiedBy>
  <cp:revision>5</cp:revision>
  <dcterms:modified xsi:type="dcterms:W3CDTF">2025-12-08T02:41:00Z</dcterms:modified>
</cp:coreProperties>
</file>